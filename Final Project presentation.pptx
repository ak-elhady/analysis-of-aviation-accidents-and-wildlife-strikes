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18288000" cy="10287000"/>
  <p:notesSz cx="6858000" cy="9144000"/>
  <p:embeddedFontLst>
    <p:embeddedFont>
      <p:font typeface="Canva Sans Bold" panose="020B0604020202020204" charset="0"/>
      <p:regular r:id="rId33"/>
    </p:embeddedFont>
    <p:embeddedFont>
      <p:font typeface="Canva Sans Italics" panose="020B0604020202020204" charset="0"/>
      <p:regular r:id="rId34"/>
    </p:embeddedFont>
    <p:embeddedFont>
      <p:font typeface="Garet" panose="020B0604020202020204" charset="0"/>
      <p:regular r:id="rId35"/>
    </p:embeddedFont>
    <p:embeddedFont>
      <p:font typeface="Garet Bold" panose="020B0604020202020204" charset="0"/>
      <p:regular r:id="rId36"/>
    </p:embeddedFont>
    <p:embeddedFont>
      <p:font typeface="Playfair Display" panose="00000500000000000000" pitchFamily="2" charset="0"/>
      <p:regular r:id="rId37"/>
    </p:embeddedFont>
    <p:embeddedFont>
      <p:font typeface="Playfair Display Bold" panose="020B0604020202020204" charset="0"/>
      <p:regular r:id="rId38"/>
    </p:embeddedFont>
    <p:embeddedFont>
      <p:font typeface="Playfair Display Bold Italics" panose="020B0604020202020204" charset="0"/>
      <p:regular r:id="rId39"/>
    </p:embeddedFont>
    <p:embeddedFont>
      <p:font typeface="Playfair Display Italics" panose="020B0604020202020204"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hyperlink" Target="https://www.ntsb.gov"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jpeg"/></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jpeg"/></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33.jpe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34.jpe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36.jpe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37.jpe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38.jpe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39.jpe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40.jpe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41.jpe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20.jpeg"/><Relationship Id="rId4" Type="http://schemas.openxmlformats.org/officeDocument/2006/relationships/image" Target="../media/image47.sv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47.svg"/></Relationships>
</file>

<file path=ppt/slides/_rels/slide3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AutoShape 2"/>
          <p:cNvSpPr/>
          <p:nvPr/>
        </p:nvSpPr>
        <p:spPr>
          <a:xfrm>
            <a:off x="425114" y="7962900"/>
            <a:ext cx="11811000" cy="0"/>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4450080" y="-36166"/>
            <a:ext cx="3568080" cy="2360266"/>
          </a:xfrm>
          <a:custGeom>
            <a:avLst/>
            <a:gdLst/>
            <a:ahLst/>
            <a:cxnLst/>
            <a:rect l="l" t="t" r="r" b="b"/>
            <a:pathLst>
              <a:path w="3568080" h="2360266">
                <a:moveTo>
                  <a:pt x="0" y="0"/>
                </a:moveTo>
                <a:lnTo>
                  <a:pt x="3568080" y="0"/>
                </a:lnTo>
                <a:lnTo>
                  <a:pt x="3568080" y="2360266"/>
                </a:lnTo>
                <a:lnTo>
                  <a:pt x="0" y="2360266"/>
                </a:lnTo>
                <a:lnTo>
                  <a:pt x="0" y="0"/>
                </a:lnTo>
                <a:close/>
              </a:path>
            </a:pathLst>
          </a:custGeom>
          <a:blipFill>
            <a:blip r:embed="rId2">
              <a:alphaModFix amt="81000"/>
            </a:blip>
            <a:stretch>
              <a:fillRect t="-22317" b="-28855"/>
            </a:stretch>
          </a:blipFill>
        </p:spPr>
        <p:txBody>
          <a:bodyPr/>
          <a:lstStyle/>
          <a:p>
            <a:endParaRPr lang="en-US"/>
          </a:p>
        </p:txBody>
      </p:sp>
      <p:sp>
        <p:nvSpPr>
          <p:cNvPr id="4" name="Freeform 4"/>
          <p:cNvSpPr/>
          <p:nvPr/>
        </p:nvSpPr>
        <p:spPr>
          <a:xfrm>
            <a:off x="9605271" y="419100"/>
            <a:ext cx="4808523" cy="1585986"/>
          </a:xfrm>
          <a:custGeom>
            <a:avLst/>
            <a:gdLst/>
            <a:ahLst/>
            <a:cxnLst/>
            <a:rect l="l" t="t" r="r" b="b"/>
            <a:pathLst>
              <a:path w="4808523" h="2599151">
                <a:moveTo>
                  <a:pt x="0" y="0"/>
                </a:moveTo>
                <a:lnTo>
                  <a:pt x="4808524" y="0"/>
                </a:lnTo>
                <a:lnTo>
                  <a:pt x="4808524" y="2599151"/>
                </a:lnTo>
                <a:lnTo>
                  <a:pt x="0" y="2599151"/>
                </a:lnTo>
                <a:lnTo>
                  <a:pt x="0" y="0"/>
                </a:lnTo>
                <a:close/>
              </a:path>
            </a:pathLst>
          </a:custGeom>
          <a:blipFill>
            <a:blip r:embed="rId3">
              <a:alphaModFix amt="80000"/>
            </a:blip>
            <a:stretch>
              <a:fillRect t="-37960" b="-32822"/>
            </a:stretch>
          </a:blipFill>
        </p:spPr>
        <p:txBody>
          <a:bodyPr/>
          <a:lstStyle/>
          <a:p>
            <a:endParaRPr lang="en-US"/>
          </a:p>
        </p:txBody>
      </p:sp>
      <p:grpSp>
        <p:nvGrpSpPr>
          <p:cNvPr id="5" name="Group 5"/>
          <p:cNvGrpSpPr/>
          <p:nvPr/>
        </p:nvGrpSpPr>
        <p:grpSpPr>
          <a:xfrm>
            <a:off x="5715000" y="2324100"/>
            <a:ext cx="6629400" cy="1153931"/>
            <a:chOff x="0" y="0"/>
            <a:chExt cx="2050429" cy="303916"/>
          </a:xfrm>
        </p:grpSpPr>
        <p:sp>
          <p:nvSpPr>
            <p:cNvPr id="6" name="Freeform 6"/>
            <p:cNvSpPr/>
            <p:nvPr/>
          </p:nvSpPr>
          <p:spPr>
            <a:xfrm>
              <a:off x="0" y="0"/>
              <a:ext cx="2050429" cy="303916"/>
            </a:xfrm>
            <a:prstGeom prst="roundRect">
              <a:avLst/>
            </a:prstGeom>
            <a:solidFill>
              <a:srgbClr val="A6A6A6">
                <a:alpha val="76863"/>
              </a:srgbClr>
            </a:solidFill>
          </p:spPr>
          <p:txBody>
            <a:bodyPr/>
            <a:lstStyle/>
            <a:p>
              <a:endParaRPr lang="en-US"/>
            </a:p>
          </p:txBody>
        </p:sp>
        <p:sp>
          <p:nvSpPr>
            <p:cNvPr id="7" name="TextBox 7"/>
            <p:cNvSpPr txBox="1"/>
            <p:nvPr/>
          </p:nvSpPr>
          <p:spPr>
            <a:xfrm>
              <a:off x="0" y="-38100"/>
              <a:ext cx="2050429" cy="342016"/>
            </a:xfrm>
            <a:prstGeom prst="round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173361" y="446929"/>
            <a:ext cx="2258844" cy="1877170"/>
          </a:xfrm>
          <a:custGeom>
            <a:avLst/>
            <a:gdLst/>
            <a:ahLst/>
            <a:cxnLst/>
            <a:rect l="l" t="t" r="r" b="b"/>
            <a:pathLst>
              <a:path w="4568219" h="3796333">
                <a:moveTo>
                  <a:pt x="0" y="0"/>
                </a:moveTo>
                <a:lnTo>
                  <a:pt x="4568218" y="0"/>
                </a:lnTo>
                <a:lnTo>
                  <a:pt x="4568218" y="3796333"/>
                </a:lnTo>
                <a:lnTo>
                  <a:pt x="0" y="3796333"/>
                </a:lnTo>
                <a:lnTo>
                  <a:pt x="0" y="0"/>
                </a:lnTo>
                <a:close/>
              </a:path>
            </a:pathLst>
          </a:custGeom>
          <a:blipFill>
            <a:blip r:embed="rId4">
              <a:alphaModFix/>
            </a:blip>
            <a:stretch>
              <a:fillRect l="-29634" r="-29414"/>
            </a:stretch>
          </a:blipFill>
        </p:spPr>
        <p:txBody>
          <a:bodyPr/>
          <a:lstStyle/>
          <a:p>
            <a:endParaRPr lang="en-US"/>
          </a:p>
        </p:txBody>
      </p:sp>
      <p:sp>
        <p:nvSpPr>
          <p:cNvPr id="10" name="TextBox 10"/>
          <p:cNvSpPr txBox="1"/>
          <p:nvPr/>
        </p:nvSpPr>
        <p:spPr>
          <a:xfrm>
            <a:off x="3048000" y="5017957"/>
            <a:ext cx="12697882" cy="2000548"/>
          </a:xfrm>
          <a:prstGeom prst="rect">
            <a:avLst/>
          </a:prstGeom>
        </p:spPr>
        <p:txBody>
          <a:bodyPr wrap="square" lIns="0" tIns="0" rIns="0" bIns="0" rtlCol="0" anchor="t">
            <a:spAutoFit/>
          </a:bodyPr>
          <a:lstStyle/>
          <a:p>
            <a:pPr algn="ctr">
              <a:lnSpc>
                <a:spcPts val="7809"/>
              </a:lnSpc>
            </a:pPr>
            <a:r>
              <a:rPr lang="en-US" sz="7099" b="1" i="1" dirty="0">
                <a:solidFill>
                  <a:srgbClr val="000000"/>
                </a:solidFill>
                <a:latin typeface="Playfair Display Bold Italics"/>
                <a:ea typeface="Playfair Display Bold Italics"/>
                <a:cs typeface="Playfair Display Bold Italics"/>
                <a:sym typeface="Playfair Display Bold Italics"/>
              </a:rPr>
              <a:t>Analysis of Aviation Accidents and Wildlife Strikes</a:t>
            </a:r>
          </a:p>
        </p:txBody>
      </p:sp>
      <p:sp>
        <p:nvSpPr>
          <p:cNvPr id="11" name="TextBox 11"/>
          <p:cNvSpPr txBox="1"/>
          <p:nvPr/>
        </p:nvSpPr>
        <p:spPr>
          <a:xfrm>
            <a:off x="6442529" y="2322477"/>
            <a:ext cx="6123156" cy="947054"/>
          </a:xfrm>
          <a:prstGeom prst="rect">
            <a:avLst/>
          </a:prstGeom>
        </p:spPr>
        <p:txBody>
          <a:bodyPr wrap="square" lIns="0" tIns="0" rIns="0" bIns="0" rtlCol="0" anchor="t">
            <a:spAutoFit/>
          </a:bodyPr>
          <a:lstStyle/>
          <a:p>
            <a:pPr algn="l">
              <a:lnSpc>
                <a:spcPts val="8371"/>
              </a:lnSpc>
            </a:pPr>
            <a:r>
              <a:rPr lang="en-US" sz="4800" dirty="0">
                <a:solidFill>
                  <a:srgbClr val="000000"/>
                </a:solidFill>
                <a:latin typeface="Playfair Display"/>
                <a:ea typeface="Playfair Display"/>
                <a:cs typeface="Playfair Display"/>
                <a:sym typeface="Playfair Display"/>
              </a:rPr>
              <a:t>Data Analysis Track </a:t>
            </a:r>
          </a:p>
        </p:txBody>
      </p:sp>
      <p:sp>
        <p:nvSpPr>
          <p:cNvPr id="12" name="TextBox 12"/>
          <p:cNvSpPr txBox="1"/>
          <p:nvPr/>
        </p:nvSpPr>
        <p:spPr>
          <a:xfrm>
            <a:off x="425114" y="8227913"/>
            <a:ext cx="8121343" cy="701154"/>
          </a:xfrm>
          <a:prstGeom prst="rect">
            <a:avLst/>
          </a:prstGeom>
        </p:spPr>
        <p:txBody>
          <a:bodyPr wrap="square" lIns="0" tIns="0" rIns="0" bIns="0" rtlCol="0" anchor="t">
            <a:spAutoFit/>
          </a:bodyPr>
          <a:lstStyle/>
          <a:p>
            <a:pPr algn="ctr">
              <a:lnSpc>
                <a:spcPts val="5995"/>
              </a:lnSpc>
            </a:pPr>
            <a:r>
              <a:rPr lang="en-US" sz="4282" b="1" dirty="0">
                <a:solidFill>
                  <a:srgbClr val="000000"/>
                </a:solidFill>
                <a:latin typeface="Playfair Display Bold" panose="020B0604020202020204" charset="0"/>
                <a:ea typeface="Garet Bold"/>
                <a:cs typeface="Garet Bold"/>
                <a:sym typeface="Garet Bold"/>
              </a:rPr>
              <a:t>Represented by : Group (#2)</a:t>
            </a:r>
          </a:p>
        </p:txBody>
      </p:sp>
      <p:sp>
        <p:nvSpPr>
          <p:cNvPr id="13" name="TextBox 13"/>
          <p:cNvSpPr txBox="1"/>
          <p:nvPr/>
        </p:nvSpPr>
        <p:spPr>
          <a:xfrm>
            <a:off x="6330614" y="3794558"/>
            <a:ext cx="5678430" cy="675698"/>
          </a:xfrm>
          <a:prstGeom prst="rect">
            <a:avLst/>
          </a:prstGeom>
        </p:spPr>
        <p:txBody>
          <a:bodyPr wrap="square" lIns="0" tIns="0" rIns="0" bIns="0" rtlCol="0" anchor="t">
            <a:spAutoFit/>
          </a:bodyPr>
          <a:lstStyle/>
          <a:p>
            <a:pPr algn="ctr">
              <a:lnSpc>
                <a:spcPts val="5734"/>
              </a:lnSpc>
              <a:spcBef>
                <a:spcPct val="0"/>
              </a:spcBef>
            </a:pPr>
            <a:r>
              <a:rPr lang="en-US" sz="4000" b="1" dirty="0">
                <a:solidFill>
                  <a:srgbClr val="000000"/>
                </a:solidFill>
                <a:latin typeface="Playfair Display Bold"/>
                <a:ea typeface="Playfair Display Bold"/>
                <a:cs typeface="Playfair Display Bold"/>
                <a:sym typeface="Playfair Display Bold"/>
              </a:rPr>
              <a:t>Project Title</a:t>
            </a:r>
          </a:p>
        </p:txBody>
      </p:sp>
      <p:sp>
        <p:nvSpPr>
          <p:cNvPr id="14" name="TextBox 12">
            <a:extLst>
              <a:ext uri="{FF2B5EF4-FFF2-40B4-BE49-F238E27FC236}">
                <a16:creationId xmlns:a16="http://schemas.microsoft.com/office/drawing/2014/main" id="{10F17D43-C075-BB48-A298-536179CAB478}"/>
              </a:ext>
            </a:extLst>
          </p:cNvPr>
          <p:cNvSpPr txBox="1"/>
          <p:nvPr/>
        </p:nvSpPr>
        <p:spPr>
          <a:xfrm>
            <a:off x="0" y="8961455"/>
            <a:ext cx="12877800" cy="701154"/>
          </a:xfrm>
          <a:prstGeom prst="rect">
            <a:avLst/>
          </a:prstGeom>
        </p:spPr>
        <p:txBody>
          <a:bodyPr wrap="square" lIns="0" tIns="0" rIns="0" bIns="0" rtlCol="0" anchor="t">
            <a:spAutoFit/>
          </a:bodyPr>
          <a:lstStyle/>
          <a:p>
            <a:pPr algn="ctr">
              <a:lnSpc>
                <a:spcPts val="5995"/>
              </a:lnSpc>
            </a:pPr>
            <a:r>
              <a:rPr lang="en-US" sz="4282" b="1" dirty="0">
                <a:solidFill>
                  <a:srgbClr val="000000"/>
                </a:solidFill>
                <a:latin typeface="Playfair Display Bold" panose="020B0604020202020204" charset="0"/>
                <a:ea typeface="Garet Bold"/>
                <a:cs typeface="Garet Bold"/>
                <a:sym typeface="Garet Bold"/>
              </a:rPr>
              <a:t>Under Supervision of : DR. Amal Mahmoud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3740026" y="1980787"/>
            <a:ext cx="10577388" cy="0"/>
          </a:xfrm>
          <a:prstGeom prst="line">
            <a:avLst/>
          </a:prstGeom>
          <a:ln w="19050" cap="flat">
            <a:solidFill>
              <a:srgbClr val="000000"/>
            </a:solidFill>
            <a:prstDash val="solid"/>
            <a:headEnd type="none" w="sm" len="sm"/>
            <a:tailEnd type="none" w="sm" len="sm"/>
          </a:ln>
        </p:spPr>
        <p:txBody>
          <a:bodyPr/>
          <a:lstStyle/>
          <a:p>
            <a:endParaRPr lang="en-US"/>
          </a:p>
        </p:txBody>
      </p:sp>
      <p:grpSp>
        <p:nvGrpSpPr>
          <p:cNvPr id="3" name="Group 3"/>
          <p:cNvGrpSpPr/>
          <p:nvPr/>
        </p:nvGrpSpPr>
        <p:grpSpPr>
          <a:xfrm>
            <a:off x="9753600" y="3019261"/>
            <a:ext cx="7602843" cy="863770"/>
            <a:chOff x="0" y="0"/>
            <a:chExt cx="2002395" cy="227495"/>
          </a:xfrm>
        </p:grpSpPr>
        <p:sp>
          <p:nvSpPr>
            <p:cNvPr id="4" name="Freeform 4"/>
            <p:cNvSpPr/>
            <p:nvPr/>
          </p:nvSpPr>
          <p:spPr>
            <a:xfrm>
              <a:off x="0" y="0"/>
              <a:ext cx="2002395" cy="227495"/>
            </a:xfrm>
            <a:custGeom>
              <a:avLst/>
              <a:gdLst/>
              <a:ahLst/>
              <a:cxnLst/>
              <a:rect l="l" t="t" r="r" b="b"/>
              <a:pathLst>
                <a:path w="2002395" h="227495">
                  <a:moveTo>
                    <a:pt x="40732" y="0"/>
                  </a:moveTo>
                  <a:lnTo>
                    <a:pt x="1961663" y="0"/>
                  </a:lnTo>
                  <a:cubicBezTo>
                    <a:pt x="1972466" y="0"/>
                    <a:pt x="1982826" y="4291"/>
                    <a:pt x="1990465" y="11930"/>
                  </a:cubicBezTo>
                  <a:cubicBezTo>
                    <a:pt x="1998103" y="19569"/>
                    <a:pt x="2002395" y="29929"/>
                    <a:pt x="2002395" y="40732"/>
                  </a:cubicBezTo>
                  <a:lnTo>
                    <a:pt x="2002395" y="186763"/>
                  </a:lnTo>
                  <a:cubicBezTo>
                    <a:pt x="2002395" y="197566"/>
                    <a:pt x="1998103" y="207926"/>
                    <a:pt x="1990465" y="215565"/>
                  </a:cubicBezTo>
                  <a:cubicBezTo>
                    <a:pt x="1982826" y="223204"/>
                    <a:pt x="1972466" y="227495"/>
                    <a:pt x="1961663" y="227495"/>
                  </a:cubicBezTo>
                  <a:lnTo>
                    <a:pt x="40732" y="227495"/>
                  </a:lnTo>
                  <a:cubicBezTo>
                    <a:pt x="29929" y="227495"/>
                    <a:pt x="19569" y="223204"/>
                    <a:pt x="11930" y="215565"/>
                  </a:cubicBezTo>
                  <a:cubicBezTo>
                    <a:pt x="4291" y="207926"/>
                    <a:pt x="0" y="197566"/>
                    <a:pt x="0" y="186763"/>
                  </a:cubicBezTo>
                  <a:lnTo>
                    <a:pt x="0" y="40732"/>
                  </a:lnTo>
                  <a:cubicBezTo>
                    <a:pt x="0" y="29929"/>
                    <a:pt x="4291" y="19569"/>
                    <a:pt x="11930" y="11930"/>
                  </a:cubicBezTo>
                  <a:cubicBezTo>
                    <a:pt x="19569" y="4291"/>
                    <a:pt x="29929" y="0"/>
                    <a:pt x="40732" y="0"/>
                  </a:cubicBezTo>
                  <a:close/>
                </a:path>
              </a:pathLst>
            </a:custGeom>
            <a:solidFill>
              <a:srgbClr val="706E74"/>
            </a:solidFill>
          </p:spPr>
          <p:txBody>
            <a:bodyPr/>
            <a:lstStyle/>
            <a:p>
              <a:endParaRPr lang="en-US"/>
            </a:p>
          </p:txBody>
        </p:sp>
        <p:sp>
          <p:nvSpPr>
            <p:cNvPr id="5" name="TextBox 5"/>
            <p:cNvSpPr txBox="1"/>
            <p:nvPr/>
          </p:nvSpPr>
          <p:spPr>
            <a:xfrm>
              <a:off x="0" y="-57150"/>
              <a:ext cx="2002395" cy="284645"/>
            </a:xfrm>
            <a:prstGeom prst="rect">
              <a:avLst/>
            </a:prstGeom>
          </p:spPr>
          <p:txBody>
            <a:bodyPr lIns="50800" tIns="50800" rIns="50800" bIns="50800" rtlCol="0" anchor="ctr"/>
            <a:lstStyle/>
            <a:p>
              <a:pPr algn="ctr">
                <a:lnSpc>
                  <a:spcPts val="3639"/>
                </a:lnSpc>
                <a:spcBef>
                  <a:spcPct val="0"/>
                </a:spcBef>
              </a:pPr>
              <a:endParaRPr/>
            </a:p>
          </p:txBody>
        </p:sp>
      </p:grpSp>
      <p:grpSp>
        <p:nvGrpSpPr>
          <p:cNvPr id="6" name="Group 6"/>
          <p:cNvGrpSpPr/>
          <p:nvPr/>
        </p:nvGrpSpPr>
        <p:grpSpPr>
          <a:xfrm>
            <a:off x="9669652" y="5194130"/>
            <a:ext cx="7602843" cy="863770"/>
            <a:chOff x="0" y="0"/>
            <a:chExt cx="2002395" cy="227495"/>
          </a:xfrm>
        </p:grpSpPr>
        <p:sp>
          <p:nvSpPr>
            <p:cNvPr id="7" name="Freeform 7"/>
            <p:cNvSpPr/>
            <p:nvPr/>
          </p:nvSpPr>
          <p:spPr>
            <a:xfrm>
              <a:off x="0" y="0"/>
              <a:ext cx="2002395" cy="227495"/>
            </a:xfrm>
            <a:custGeom>
              <a:avLst/>
              <a:gdLst/>
              <a:ahLst/>
              <a:cxnLst/>
              <a:rect l="l" t="t" r="r" b="b"/>
              <a:pathLst>
                <a:path w="2002395" h="227495">
                  <a:moveTo>
                    <a:pt x="40732" y="0"/>
                  </a:moveTo>
                  <a:lnTo>
                    <a:pt x="1961663" y="0"/>
                  </a:lnTo>
                  <a:cubicBezTo>
                    <a:pt x="1972466" y="0"/>
                    <a:pt x="1982826" y="4291"/>
                    <a:pt x="1990465" y="11930"/>
                  </a:cubicBezTo>
                  <a:cubicBezTo>
                    <a:pt x="1998103" y="19569"/>
                    <a:pt x="2002395" y="29929"/>
                    <a:pt x="2002395" y="40732"/>
                  </a:cubicBezTo>
                  <a:lnTo>
                    <a:pt x="2002395" y="186763"/>
                  </a:lnTo>
                  <a:cubicBezTo>
                    <a:pt x="2002395" y="197566"/>
                    <a:pt x="1998103" y="207926"/>
                    <a:pt x="1990465" y="215565"/>
                  </a:cubicBezTo>
                  <a:cubicBezTo>
                    <a:pt x="1982826" y="223204"/>
                    <a:pt x="1972466" y="227495"/>
                    <a:pt x="1961663" y="227495"/>
                  </a:cubicBezTo>
                  <a:lnTo>
                    <a:pt x="40732" y="227495"/>
                  </a:lnTo>
                  <a:cubicBezTo>
                    <a:pt x="29929" y="227495"/>
                    <a:pt x="19569" y="223204"/>
                    <a:pt x="11930" y="215565"/>
                  </a:cubicBezTo>
                  <a:cubicBezTo>
                    <a:pt x="4291" y="207926"/>
                    <a:pt x="0" y="197566"/>
                    <a:pt x="0" y="186763"/>
                  </a:cubicBezTo>
                  <a:lnTo>
                    <a:pt x="0" y="40732"/>
                  </a:lnTo>
                  <a:cubicBezTo>
                    <a:pt x="0" y="29929"/>
                    <a:pt x="4291" y="19569"/>
                    <a:pt x="11930" y="11930"/>
                  </a:cubicBezTo>
                  <a:cubicBezTo>
                    <a:pt x="19569" y="4291"/>
                    <a:pt x="29929" y="0"/>
                    <a:pt x="40732" y="0"/>
                  </a:cubicBezTo>
                  <a:close/>
                </a:path>
              </a:pathLst>
            </a:custGeom>
            <a:solidFill>
              <a:srgbClr val="706E74"/>
            </a:solidFill>
          </p:spPr>
          <p:txBody>
            <a:bodyPr/>
            <a:lstStyle/>
            <a:p>
              <a:endParaRPr lang="en-US"/>
            </a:p>
          </p:txBody>
        </p:sp>
        <p:sp>
          <p:nvSpPr>
            <p:cNvPr id="8" name="TextBox 8"/>
            <p:cNvSpPr txBox="1"/>
            <p:nvPr/>
          </p:nvSpPr>
          <p:spPr>
            <a:xfrm>
              <a:off x="0" y="-57150"/>
              <a:ext cx="2002395" cy="284645"/>
            </a:xfrm>
            <a:prstGeom prst="rect">
              <a:avLst/>
            </a:prstGeom>
          </p:spPr>
          <p:txBody>
            <a:bodyPr lIns="50800" tIns="50800" rIns="50800" bIns="50800" rtlCol="0" anchor="ctr"/>
            <a:lstStyle/>
            <a:p>
              <a:pPr algn="ctr">
                <a:lnSpc>
                  <a:spcPts val="3639"/>
                </a:lnSpc>
                <a:spcBef>
                  <a:spcPct val="0"/>
                </a:spcBef>
              </a:pPr>
              <a:endParaRPr/>
            </a:p>
          </p:txBody>
        </p:sp>
      </p:grpSp>
      <p:sp>
        <p:nvSpPr>
          <p:cNvPr id="9" name="Freeform 9"/>
          <p:cNvSpPr/>
          <p:nvPr/>
        </p:nvSpPr>
        <p:spPr>
          <a:xfrm flipV="1">
            <a:off x="14028048" y="-2914387"/>
            <a:ext cx="6264479" cy="6275890"/>
          </a:xfrm>
          <a:custGeom>
            <a:avLst/>
            <a:gdLst/>
            <a:ahLst/>
            <a:cxnLst/>
            <a:rect l="l" t="t" r="r" b="b"/>
            <a:pathLst>
              <a:path w="6264479" h="6275890">
                <a:moveTo>
                  <a:pt x="0" y="6275890"/>
                </a:moveTo>
                <a:lnTo>
                  <a:pt x="6264480" y="6275890"/>
                </a:lnTo>
                <a:lnTo>
                  <a:pt x="6264480" y="0"/>
                </a:lnTo>
                <a:lnTo>
                  <a:pt x="0" y="0"/>
                </a:lnTo>
                <a:lnTo>
                  <a:pt x="0" y="627589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0" name="Group 10"/>
          <p:cNvGrpSpPr/>
          <p:nvPr/>
        </p:nvGrpSpPr>
        <p:grpSpPr>
          <a:xfrm>
            <a:off x="1083957" y="3034400"/>
            <a:ext cx="7602843" cy="863770"/>
            <a:chOff x="0" y="0"/>
            <a:chExt cx="2002395" cy="227495"/>
          </a:xfrm>
        </p:grpSpPr>
        <p:sp>
          <p:nvSpPr>
            <p:cNvPr id="11" name="Freeform 11"/>
            <p:cNvSpPr/>
            <p:nvPr/>
          </p:nvSpPr>
          <p:spPr>
            <a:xfrm>
              <a:off x="0" y="0"/>
              <a:ext cx="2002395" cy="227495"/>
            </a:xfrm>
            <a:custGeom>
              <a:avLst/>
              <a:gdLst/>
              <a:ahLst/>
              <a:cxnLst/>
              <a:rect l="l" t="t" r="r" b="b"/>
              <a:pathLst>
                <a:path w="2002395" h="227495">
                  <a:moveTo>
                    <a:pt x="40732" y="0"/>
                  </a:moveTo>
                  <a:lnTo>
                    <a:pt x="1961663" y="0"/>
                  </a:lnTo>
                  <a:cubicBezTo>
                    <a:pt x="1972466" y="0"/>
                    <a:pt x="1982826" y="4291"/>
                    <a:pt x="1990465" y="11930"/>
                  </a:cubicBezTo>
                  <a:cubicBezTo>
                    <a:pt x="1998103" y="19569"/>
                    <a:pt x="2002395" y="29929"/>
                    <a:pt x="2002395" y="40732"/>
                  </a:cubicBezTo>
                  <a:lnTo>
                    <a:pt x="2002395" y="186763"/>
                  </a:lnTo>
                  <a:cubicBezTo>
                    <a:pt x="2002395" y="197566"/>
                    <a:pt x="1998103" y="207926"/>
                    <a:pt x="1990465" y="215565"/>
                  </a:cubicBezTo>
                  <a:cubicBezTo>
                    <a:pt x="1982826" y="223204"/>
                    <a:pt x="1972466" y="227495"/>
                    <a:pt x="1961663" y="227495"/>
                  </a:cubicBezTo>
                  <a:lnTo>
                    <a:pt x="40732" y="227495"/>
                  </a:lnTo>
                  <a:cubicBezTo>
                    <a:pt x="29929" y="227495"/>
                    <a:pt x="19569" y="223204"/>
                    <a:pt x="11930" y="215565"/>
                  </a:cubicBezTo>
                  <a:cubicBezTo>
                    <a:pt x="4291" y="207926"/>
                    <a:pt x="0" y="197566"/>
                    <a:pt x="0" y="186763"/>
                  </a:cubicBezTo>
                  <a:lnTo>
                    <a:pt x="0" y="40732"/>
                  </a:lnTo>
                  <a:cubicBezTo>
                    <a:pt x="0" y="29929"/>
                    <a:pt x="4291" y="19569"/>
                    <a:pt x="11930" y="11930"/>
                  </a:cubicBezTo>
                  <a:cubicBezTo>
                    <a:pt x="19569" y="4291"/>
                    <a:pt x="29929" y="0"/>
                    <a:pt x="40732" y="0"/>
                  </a:cubicBezTo>
                  <a:close/>
                </a:path>
              </a:pathLst>
            </a:custGeom>
            <a:solidFill>
              <a:srgbClr val="706E74"/>
            </a:solidFill>
          </p:spPr>
          <p:txBody>
            <a:bodyPr/>
            <a:lstStyle/>
            <a:p>
              <a:endParaRPr lang="en-US"/>
            </a:p>
          </p:txBody>
        </p:sp>
        <p:sp>
          <p:nvSpPr>
            <p:cNvPr id="12" name="TextBox 12"/>
            <p:cNvSpPr txBox="1"/>
            <p:nvPr/>
          </p:nvSpPr>
          <p:spPr>
            <a:xfrm>
              <a:off x="0" y="-57150"/>
              <a:ext cx="2002395" cy="284645"/>
            </a:xfrm>
            <a:prstGeom prst="rect">
              <a:avLst/>
            </a:prstGeom>
          </p:spPr>
          <p:txBody>
            <a:bodyPr lIns="50800" tIns="50800" rIns="50800" bIns="50800" rtlCol="0" anchor="ctr"/>
            <a:lstStyle/>
            <a:p>
              <a:pPr algn="ctr">
                <a:lnSpc>
                  <a:spcPts val="3639"/>
                </a:lnSpc>
                <a:spcBef>
                  <a:spcPct val="0"/>
                </a:spcBef>
              </a:pPr>
              <a:endParaRPr/>
            </a:p>
          </p:txBody>
        </p:sp>
      </p:grpSp>
      <p:sp>
        <p:nvSpPr>
          <p:cNvPr id="13" name="TextBox 13"/>
          <p:cNvSpPr txBox="1"/>
          <p:nvPr/>
        </p:nvSpPr>
        <p:spPr>
          <a:xfrm>
            <a:off x="10546514" y="3101378"/>
            <a:ext cx="5998039" cy="613411"/>
          </a:xfrm>
          <a:prstGeom prst="rect">
            <a:avLst/>
          </a:prstGeom>
        </p:spPr>
        <p:txBody>
          <a:bodyPr lIns="0" tIns="0" rIns="0" bIns="0" rtlCol="0" anchor="t">
            <a:spAutoFit/>
          </a:bodyPr>
          <a:lstStyle/>
          <a:p>
            <a:pPr algn="ctr">
              <a:lnSpc>
                <a:spcPts val="5039"/>
              </a:lnSpc>
            </a:pPr>
            <a:r>
              <a:rPr lang="en-US" sz="3599" b="1" dirty="0">
                <a:solidFill>
                  <a:srgbClr val="FFFFFF"/>
                </a:solidFill>
                <a:latin typeface="Garet Bold"/>
                <a:ea typeface="Garet Bold"/>
                <a:cs typeface="Garet Bold"/>
                <a:sym typeface="Garet Bold"/>
              </a:rPr>
              <a:t>Ehab Tharwat Mohamed</a:t>
            </a:r>
          </a:p>
        </p:txBody>
      </p:sp>
      <p:sp>
        <p:nvSpPr>
          <p:cNvPr id="14" name="TextBox 14"/>
          <p:cNvSpPr txBox="1"/>
          <p:nvPr/>
        </p:nvSpPr>
        <p:spPr>
          <a:xfrm>
            <a:off x="7156077" y="808940"/>
            <a:ext cx="7382688" cy="1400579"/>
          </a:xfrm>
          <a:prstGeom prst="rect">
            <a:avLst/>
          </a:prstGeom>
        </p:spPr>
        <p:txBody>
          <a:bodyPr lIns="0" tIns="0" rIns="0" bIns="0" rtlCol="0" anchor="t">
            <a:spAutoFit/>
          </a:bodyPr>
          <a:lstStyle/>
          <a:p>
            <a:pPr algn="l">
              <a:lnSpc>
                <a:spcPts val="10759"/>
              </a:lnSpc>
            </a:pPr>
            <a:r>
              <a:rPr lang="en-US" sz="9781" i="1">
                <a:solidFill>
                  <a:srgbClr val="000000"/>
                </a:solidFill>
                <a:latin typeface="Playfair Display Italics"/>
                <a:ea typeface="Playfair Display Italics"/>
                <a:cs typeface="Playfair Display Italics"/>
                <a:sym typeface="Playfair Display Italics"/>
              </a:rPr>
              <a:t>members</a:t>
            </a:r>
          </a:p>
        </p:txBody>
      </p:sp>
      <p:sp>
        <p:nvSpPr>
          <p:cNvPr id="15" name="TextBox 15"/>
          <p:cNvSpPr txBox="1"/>
          <p:nvPr/>
        </p:nvSpPr>
        <p:spPr>
          <a:xfrm>
            <a:off x="3749235" y="989789"/>
            <a:ext cx="3032667" cy="684276"/>
          </a:xfrm>
          <a:prstGeom prst="rect">
            <a:avLst/>
          </a:prstGeom>
        </p:spPr>
        <p:txBody>
          <a:bodyPr lIns="0" tIns="0" rIns="0" bIns="0" rtlCol="0" anchor="t">
            <a:spAutoFit/>
          </a:bodyPr>
          <a:lstStyle/>
          <a:p>
            <a:pPr algn="r">
              <a:lnSpc>
                <a:spcPts val="5399"/>
              </a:lnSpc>
            </a:pPr>
            <a:r>
              <a:rPr lang="en-US" sz="4908">
                <a:solidFill>
                  <a:srgbClr val="000000"/>
                </a:solidFill>
                <a:latin typeface="Playfair Display"/>
                <a:ea typeface="Playfair Display"/>
                <a:cs typeface="Playfair Display"/>
                <a:sym typeface="Playfair Display"/>
              </a:rPr>
              <a:t>Group</a:t>
            </a:r>
          </a:p>
        </p:txBody>
      </p:sp>
      <p:sp>
        <p:nvSpPr>
          <p:cNvPr id="16" name="TextBox 16"/>
          <p:cNvSpPr txBox="1"/>
          <p:nvPr/>
        </p:nvSpPr>
        <p:spPr>
          <a:xfrm>
            <a:off x="1680592" y="3163512"/>
            <a:ext cx="6337531" cy="613411"/>
          </a:xfrm>
          <a:prstGeom prst="rect">
            <a:avLst/>
          </a:prstGeom>
        </p:spPr>
        <p:txBody>
          <a:bodyPr lIns="0" tIns="0" rIns="0" bIns="0" rtlCol="0" anchor="t">
            <a:spAutoFit/>
          </a:bodyPr>
          <a:lstStyle/>
          <a:p>
            <a:pPr algn="ctr">
              <a:lnSpc>
                <a:spcPts val="5039"/>
              </a:lnSpc>
            </a:pPr>
            <a:r>
              <a:rPr lang="en-US" sz="3599" b="1" dirty="0">
                <a:solidFill>
                  <a:srgbClr val="FFFFFF"/>
                </a:solidFill>
                <a:latin typeface="Garet Bold"/>
                <a:ea typeface="Garet Bold"/>
                <a:cs typeface="Garet Bold"/>
                <a:sym typeface="Garet Bold"/>
              </a:rPr>
              <a:t>Akram Mohamed El-Hady </a:t>
            </a:r>
          </a:p>
        </p:txBody>
      </p:sp>
      <p:grpSp>
        <p:nvGrpSpPr>
          <p:cNvPr id="17" name="Group 17"/>
          <p:cNvGrpSpPr/>
          <p:nvPr/>
        </p:nvGrpSpPr>
        <p:grpSpPr>
          <a:xfrm>
            <a:off x="1083634" y="5177380"/>
            <a:ext cx="7602843" cy="863770"/>
            <a:chOff x="0" y="0"/>
            <a:chExt cx="2002395" cy="227495"/>
          </a:xfrm>
        </p:grpSpPr>
        <p:sp>
          <p:nvSpPr>
            <p:cNvPr id="18" name="Freeform 18"/>
            <p:cNvSpPr/>
            <p:nvPr/>
          </p:nvSpPr>
          <p:spPr>
            <a:xfrm>
              <a:off x="0" y="0"/>
              <a:ext cx="2002395" cy="227495"/>
            </a:xfrm>
            <a:custGeom>
              <a:avLst/>
              <a:gdLst/>
              <a:ahLst/>
              <a:cxnLst/>
              <a:rect l="l" t="t" r="r" b="b"/>
              <a:pathLst>
                <a:path w="2002395" h="227495">
                  <a:moveTo>
                    <a:pt x="40732" y="0"/>
                  </a:moveTo>
                  <a:lnTo>
                    <a:pt x="1961663" y="0"/>
                  </a:lnTo>
                  <a:cubicBezTo>
                    <a:pt x="1972466" y="0"/>
                    <a:pt x="1982826" y="4291"/>
                    <a:pt x="1990465" y="11930"/>
                  </a:cubicBezTo>
                  <a:cubicBezTo>
                    <a:pt x="1998103" y="19569"/>
                    <a:pt x="2002395" y="29929"/>
                    <a:pt x="2002395" y="40732"/>
                  </a:cubicBezTo>
                  <a:lnTo>
                    <a:pt x="2002395" y="186763"/>
                  </a:lnTo>
                  <a:cubicBezTo>
                    <a:pt x="2002395" y="197566"/>
                    <a:pt x="1998103" y="207926"/>
                    <a:pt x="1990465" y="215565"/>
                  </a:cubicBezTo>
                  <a:cubicBezTo>
                    <a:pt x="1982826" y="223204"/>
                    <a:pt x="1972466" y="227495"/>
                    <a:pt x="1961663" y="227495"/>
                  </a:cubicBezTo>
                  <a:lnTo>
                    <a:pt x="40732" y="227495"/>
                  </a:lnTo>
                  <a:cubicBezTo>
                    <a:pt x="29929" y="227495"/>
                    <a:pt x="19569" y="223204"/>
                    <a:pt x="11930" y="215565"/>
                  </a:cubicBezTo>
                  <a:cubicBezTo>
                    <a:pt x="4291" y="207926"/>
                    <a:pt x="0" y="197566"/>
                    <a:pt x="0" y="186763"/>
                  </a:cubicBezTo>
                  <a:lnTo>
                    <a:pt x="0" y="40732"/>
                  </a:lnTo>
                  <a:cubicBezTo>
                    <a:pt x="0" y="29929"/>
                    <a:pt x="4291" y="19569"/>
                    <a:pt x="11930" y="11930"/>
                  </a:cubicBezTo>
                  <a:cubicBezTo>
                    <a:pt x="19569" y="4291"/>
                    <a:pt x="29929" y="0"/>
                    <a:pt x="40732" y="0"/>
                  </a:cubicBezTo>
                  <a:close/>
                </a:path>
              </a:pathLst>
            </a:custGeom>
            <a:solidFill>
              <a:srgbClr val="706E74"/>
            </a:solidFill>
          </p:spPr>
          <p:txBody>
            <a:bodyPr/>
            <a:lstStyle/>
            <a:p>
              <a:endParaRPr lang="en-US"/>
            </a:p>
          </p:txBody>
        </p:sp>
        <p:sp>
          <p:nvSpPr>
            <p:cNvPr id="19" name="TextBox 19"/>
            <p:cNvSpPr txBox="1"/>
            <p:nvPr/>
          </p:nvSpPr>
          <p:spPr>
            <a:xfrm>
              <a:off x="0" y="-57150"/>
              <a:ext cx="2002395" cy="284645"/>
            </a:xfrm>
            <a:prstGeom prst="rect">
              <a:avLst/>
            </a:prstGeom>
          </p:spPr>
          <p:txBody>
            <a:bodyPr lIns="50800" tIns="50800" rIns="50800" bIns="50800" rtlCol="0" anchor="ctr"/>
            <a:lstStyle/>
            <a:p>
              <a:pPr algn="ctr">
                <a:lnSpc>
                  <a:spcPts val="3639"/>
                </a:lnSpc>
                <a:spcBef>
                  <a:spcPct val="0"/>
                </a:spcBef>
              </a:pPr>
              <a:endParaRPr/>
            </a:p>
          </p:txBody>
        </p:sp>
      </p:grpSp>
      <p:sp>
        <p:nvSpPr>
          <p:cNvPr id="20" name="TextBox 20"/>
          <p:cNvSpPr txBox="1"/>
          <p:nvPr/>
        </p:nvSpPr>
        <p:spPr>
          <a:xfrm>
            <a:off x="1244028" y="5201979"/>
            <a:ext cx="7282055" cy="679353"/>
          </a:xfrm>
          <a:prstGeom prst="rect">
            <a:avLst/>
          </a:prstGeom>
        </p:spPr>
        <p:txBody>
          <a:bodyPr lIns="0" tIns="0" rIns="0" bIns="0" rtlCol="0" anchor="t">
            <a:spAutoFit/>
          </a:bodyPr>
          <a:lstStyle/>
          <a:p>
            <a:pPr algn="ctr">
              <a:lnSpc>
                <a:spcPts val="5471"/>
              </a:lnSpc>
            </a:pPr>
            <a:r>
              <a:rPr lang="en-US" sz="3908" b="1" dirty="0">
                <a:solidFill>
                  <a:srgbClr val="FFFFFF"/>
                </a:solidFill>
                <a:latin typeface="Garet Bold"/>
                <a:ea typeface="Garet Bold"/>
                <a:cs typeface="Garet Bold"/>
                <a:sym typeface="Garet Bold"/>
              </a:rPr>
              <a:t>Mahmoud Ahmed </a:t>
            </a:r>
            <a:r>
              <a:rPr lang="en-US" sz="3908" b="1" dirty="0" err="1">
                <a:solidFill>
                  <a:srgbClr val="FFFFFF"/>
                </a:solidFill>
                <a:latin typeface="Garet Bold"/>
                <a:ea typeface="Garet Bold"/>
                <a:cs typeface="Garet Bold"/>
                <a:sym typeface="Garet Bold"/>
              </a:rPr>
              <a:t>Hefnawy</a:t>
            </a:r>
            <a:endParaRPr lang="en-US" sz="3908" b="1" dirty="0">
              <a:solidFill>
                <a:srgbClr val="FFFFFF"/>
              </a:solidFill>
              <a:latin typeface="Garet Bold"/>
              <a:ea typeface="Garet Bold"/>
              <a:cs typeface="Garet Bold"/>
              <a:sym typeface="Garet Bold"/>
            </a:endParaRPr>
          </a:p>
        </p:txBody>
      </p:sp>
      <p:sp>
        <p:nvSpPr>
          <p:cNvPr id="21" name="TextBox 21"/>
          <p:cNvSpPr txBox="1"/>
          <p:nvPr/>
        </p:nvSpPr>
        <p:spPr>
          <a:xfrm>
            <a:off x="9753601" y="5303418"/>
            <a:ext cx="7434947" cy="642484"/>
          </a:xfrm>
          <a:prstGeom prst="rect">
            <a:avLst/>
          </a:prstGeom>
        </p:spPr>
        <p:txBody>
          <a:bodyPr lIns="0" tIns="0" rIns="0" bIns="0" rtlCol="0" anchor="t">
            <a:spAutoFit/>
          </a:bodyPr>
          <a:lstStyle/>
          <a:p>
            <a:pPr algn="ctr">
              <a:lnSpc>
                <a:spcPts val="5179"/>
              </a:lnSpc>
            </a:pPr>
            <a:r>
              <a:rPr lang="en-US" sz="3699" b="1" dirty="0">
                <a:solidFill>
                  <a:srgbClr val="FFFFFF"/>
                </a:solidFill>
                <a:latin typeface="Garet Bold"/>
                <a:ea typeface="Garet Bold"/>
                <a:cs typeface="Garet Bold"/>
                <a:sym typeface="Garet Bold"/>
              </a:rPr>
              <a:t>Nourhan </a:t>
            </a:r>
            <a:r>
              <a:rPr lang="en-US" sz="3699" b="1" dirty="0" err="1">
                <a:solidFill>
                  <a:srgbClr val="FFFFFF"/>
                </a:solidFill>
                <a:latin typeface="Garet Bold"/>
                <a:ea typeface="Garet Bold"/>
                <a:cs typeface="Garet Bold"/>
                <a:sym typeface="Garet Bold"/>
              </a:rPr>
              <a:t>NasrEldin</a:t>
            </a:r>
            <a:r>
              <a:rPr lang="en-US" sz="3699" b="1" dirty="0">
                <a:solidFill>
                  <a:srgbClr val="FFFFFF"/>
                </a:solidFill>
                <a:latin typeface="Garet Bold"/>
                <a:ea typeface="Garet Bold"/>
                <a:cs typeface="Garet Bold"/>
                <a:sym typeface="Garet Bold"/>
              </a:rPr>
              <a:t> Mohamed</a:t>
            </a:r>
          </a:p>
        </p:txBody>
      </p:sp>
      <p:grpSp>
        <p:nvGrpSpPr>
          <p:cNvPr id="22" name="Group 22"/>
          <p:cNvGrpSpPr/>
          <p:nvPr/>
        </p:nvGrpSpPr>
        <p:grpSpPr>
          <a:xfrm>
            <a:off x="1083634" y="7462485"/>
            <a:ext cx="7602843" cy="863770"/>
            <a:chOff x="0" y="0"/>
            <a:chExt cx="2002395" cy="227495"/>
          </a:xfrm>
        </p:grpSpPr>
        <p:sp>
          <p:nvSpPr>
            <p:cNvPr id="23" name="Freeform 23"/>
            <p:cNvSpPr/>
            <p:nvPr/>
          </p:nvSpPr>
          <p:spPr>
            <a:xfrm>
              <a:off x="0" y="0"/>
              <a:ext cx="2002395" cy="227495"/>
            </a:xfrm>
            <a:custGeom>
              <a:avLst/>
              <a:gdLst/>
              <a:ahLst/>
              <a:cxnLst/>
              <a:rect l="l" t="t" r="r" b="b"/>
              <a:pathLst>
                <a:path w="2002395" h="227495">
                  <a:moveTo>
                    <a:pt x="40732" y="0"/>
                  </a:moveTo>
                  <a:lnTo>
                    <a:pt x="1961663" y="0"/>
                  </a:lnTo>
                  <a:cubicBezTo>
                    <a:pt x="1972466" y="0"/>
                    <a:pt x="1982826" y="4291"/>
                    <a:pt x="1990465" y="11930"/>
                  </a:cubicBezTo>
                  <a:cubicBezTo>
                    <a:pt x="1998103" y="19569"/>
                    <a:pt x="2002395" y="29929"/>
                    <a:pt x="2002395" y="40732"/>
                  </a:cubicBezTo>
                  <a:lnTo>
                    <a:pt x="2002395" y="186763"/>
                  </a:lnTo>
                  <a:cubicBezTo>
                    <a:pt x="2002395" y="197566"/>
                    <a:pt x="1998103" y="207926"/>
                    <a:pt x="1990465" y="215565"/>
                  </a:cubicBezTo>
                  <a:cubicBezTo>
                    <a:pt x="1982826" y="223204"/>
                    <a:pt x="1972466" y="227495"/>
                    <a:pt x="1961663" y="227495"/>
                  </a:cubicBezTo>
                  <a:lnTo>
                    <a:pt x="40732" y="227495"/>
                  </a:lnTo>
                  <a:cubicBezTo>
                    <a:pt x="29929" y="227495"/>
                    <a:pt x="19569" y="223204"/>
                    <a:pt x="11930" y="215565"/>
                  </a:cubicBezTo>
                  <a:cubicBezTo>
                    <a:pt x="4291" y="207926"/>
                    <a:pt x="0" y="197566"/>
                    <a:pt x="0" y="186763"/>
                  </a:cubicBezTo>
                  <a:lnTo>
                    <a:pt x="0" y="40732"/>
                  </a:lnTo>
                  <a:cubicBezTo>
                    <a:pt x="0" y="29929"/>
                    <a:pt x="4291" y="19569"/>
                    <a:pt x="11930" y="11930"/>
                  </a:cubicBezTo>
                  <a:cubicBezTo>
                    <a:pt x="19569" y="4291"/>
                    <a:pt x="29929" y="0"/>
                    <a:pt x="40732" y="0"/>
                  </a:cubicBezTo>
                  <a:close/>
                </a:path>
              </a:pathLst>
            </a:custGeom>
            <a:solidFill>
              <a:srgbClr val="706E74"/>
            </a:solidFill>
          </p:spPr>
          <p:txBody>
            <a:bodyPr/>
            <a:lstStyle/>
            <a:p>
              <a:endParaRPr lang="en-US"/>
            </a:p>
          </p:txBody>
        </p:sp>
        <p:sp>
          <p:nvSpPr>
            <p:cNvPr id="24" name="TextBox 24"/>
            <p:cNvSpPr txBox="1"/>
            <p:nvPr/>
          </p:nvSpPr>
          <p:spPr>
            <a:xfrm>
              <a:off x="0" y="-57150"/>
              <a:ext cx="2002395" cy="284645"/>
            </a:xfrm>
            <a:prstGeom prst="rect">
              <a:avLst/>
            </a:prstGeom>
          </p:spPr>
          <p:txBody>
            <a:bodyPr lIns="50800" tIns="50800" rIns="50800" bIns="50800" rtlCol="0" anchor="ctr"/>
            <a:lstStyle/>
            <a:p>
              <a:pPr algn="ctr">
                <a:lnSpc>
                  <a:spcPts val="3639"/>
                </a:lnSpc>
                <a:spcBef>
                  <a:spcPct val="0"/>
                </a:spcBef>
              </a:pPr>
              <a:endParaRPr/>
            </a:p>
          </p:txBody>
        </p:sp>
      </p:grpSp>
      <p:sp>
        <p:nvSpPr>
          <p:cNvPr id="25" name="TextBox 25"/>
          <p:cNvSpPr txBox="1"/>
          <p:nvPr/>
        </p:nvSpPr>
        <p:spPr>
          <a:xfrm>
            <a:off x="1424458" y="7579409"/>
            <a:ext cx="6409574" cy="629921"/>
          </a:xfrm>
          <a:prstGeom prst="rect">
            <a:avLst/>
          </a:prstGeom>
        </p:spPr>
        <p:txBody>
          <a:bodyPr lIns="0" tIns="0" rIns="0" bIns="0" rtlCol="0" anchor="t">
            <a:spAutoFit/>
          </a:bodyPr>
          <a:lstStyle/>
          <a:p>
            <a:pPr algn="ctr">
              <a:lnSpc>
                <a:spcPts val="5179"/>
              </a:lnSpc>
            </a:pPr>
            <a:r>
              <a:rPr lang="en-US" sz="3699" b="1" dirty="0">
                <a:solidFill>
                  <a:srgbClr val="FFFFFF"/>
                </a:solidFill>
                <a:latin typeface="Garet Bold"/>
                <a:ea typeface="Garet Bold"/>
                <a:cs typeface="Garet Bold"/>
                <a:sym typeface="Garet Bold"/>
              </a:rPr>
              <a:t>Taghreed Roshdy Ahmed </a:t>
            </a:r>
          </a:p>
        </p:txBody>
      </p:sp>
      <p:grpSp>
        <p:nvGrpSpPr>
          <p:cNvPr id="26" name="Group 26"/>
          <p:cNvGrpSpPr/>
          <p:nvPr/>
        </p:nvGrpSpPr>
        <p:grpSpPr>
          <a:xfrm>
            <a:off x="9669651" y="7473286"/>
            <a:ext cx="7602843" cy="863770"/>
            <a:chOff x="0" y="0"/>
            <a:chExt cx="2002395" cy="227495"/>
          </a:xfrm>
        </p:grpSpPr>
        <p:sp>
          <p:nvSpPr>
            <p:cNvPr id="27" name="Freeform 27"/>
            <p:cNvSpPr/>
            <p:nvPr/>
          </p:nvSpPr>
          <p:spPr>
            <a:xfrm>
              <a:off x="0" y="0"/>
              <a:ext cx="2002395" cy="227495"/>
            </a:xfrm>
            <a:custGeom>
              <a:avLst/>
              <a:gdLst/>
              <a:ahLst/>
              <a:cxnLst/>
              <a:rect l="l" t="t" r="r" b="b"/>
              <a:pathLst>
                <a:path w="2002395" h="227495">
                  <a:moveTo>
                    <a:pt x="40732" y="0"/>
                  </a:moveTo>
                  <a:lnTo>
                    <a:pt x="1961663" y="0"/>
                  </a:lnTo>
                  <a:cubicBezTo>
                    <a:pt x="1972466" y="0"/>
                    <a:pt x="1982826" y="4291"/>
                    <a:pt x="1990465" y="11930"/>
                  </a:cubicBezTo>
                  <a:cubicBezTo>
                    <a:pt x="1998103" y="19569"/>
                    <a:pt x="2002395" y="29929"/>
                    <a:pt x="2002395" y="40732"/>
                  </a:cubicBezTo>
                  <a:lnTo>
                    <a:pt x="2002395" y="186763"/>
                  </a:lnTo>
                  <a:cubicBezTo>
                    <a:pt x="2002395" y="197566"/>
                    <a:pt x="1998103" y="207926"/>
                    <a:pt x="1990465" y="215565"/>
                  </a:cubicBezTo>
                  <a:cubicBezTo>
                    <a:pt x="1982826" y="223204"/>
                    <a:pt x="1972466" y="227495"/>
                    <a:pt x="1961663" y="227495"/>
                  </a:cubicBezTo>
                  <a:lnTo>
                    <a:pt x="40732" y="227495"/>
                  </a:lnTo>
                  <a:cubicBezTo>
                    <a:pt x="29929" y="227495"/>
                    <a:pt x="19569" y="223204"/>
                    <a:pt x="11930" y="215565"/>
                  </a:cubicBezTo>
                  <a:cubicBezTo>
                    <a:pt x="4291" y="207926"/>
                    <a:pt x="0" y="197566"/>
                    <a:pt x="0" y="186763"/>
                  </a:cubicBezTo>
                  <a:lnTo>
                    <a:pt x="0" y="40732"/>
                  </a:lnTo>
                  <a:cubicBezTo>
                    <a:pt x="0" y="29929"/>
                    <a:pt x="4291" y="19569"/>
                    <a:pt x="11930" y="11930"/>
                  </a:cubicBezTo>
                  <a:cubicBezTo>
                    <a:pt x="19569" y="4291"/>
                    <a:pt x="29929" y="0"/>
                    <a:pt x="40732" y="0"/>
                  </a:cubicBezTo>
                  <a:close/>
                </a:path>
              </a:pathLst>
            </a:custGeom>
            <a:solidFill>
              <a:srgbClr val="706E74"/>
            </a:solidFill>
          </p:spPr>
          <p:txBody>
            <a:bodyPr/>
            <a:lstStyle/>
            <a:p>
              <a:endParaRPr lang="en-US"/>
            </a:p>
          </p:txBody>
        </p:sp>
        <p:sp>
          <p:nvSpPr>
            <p:cNvPr id="28" name="TextBox 28"/>
            <p:cNvSpPr txBox="1"/>
            <p:nvPr/>
          </p:nvSpPr>
          <p:spPr>
            <a:xfrm>
              <a:off x="0" y="-57150"/>
              <a:ext cx="2002395" cy="284645"/>
            </a:xfrm>
            <a:prstGeom prst="rect">
              <a:avLst/>
            </a:prstGeom>
          </p:spPr>
          <p:txBody>
            <a:bodyPr lIns="50800" tIns="50800" rIns="50800" bIns="50800" rtlCol="0" anchor="ctr"/>
            <a:lstStyle/>
            <a:p>
              <a:pPr algn="ctr">
                <a:lnSpc>
                  <a:spcPts val="3639"/>
                </a:lnSpc>
                <a:spcBef>
                  <a:spcPct val="0"/>
                </a:spcBef>
              </a:pPr>
              <a:endParaRPr/>
            </a:p>
          </p:txBody>
        </p:sp>
      </p:grpSp>
      <p:sp>
        <p:nvSpPr>
          <p:cNvPr id="29" name="TextBox 29"/>
          <p:cNvSpPr txBox="1"/>
          <p:nvPr/>
        </p:nvSpPr>
        <p:spPr>
          <a:xfrm>
            <a:off x="10289899" y="7579410"/>
            <a:ext cx="6254654" cy="629920"/>
          </a:xfrm>
          <a:prstGeom prst="rect">
            <a:avLst/>
          </a:prstGeom>
        </p:spPr>
        <p:txBody>
          <a:bodyPr lIns="0" tIns="0" rIns="0" bIns="0" rtlCol="0" anchor="t">
            <a:spAutoFit/>
          </a:bodyPr>
          <a:lstStyle/>
          <a:p>
            <a:pPr algn="ctr">
              <a:lnSpc>
                <a:spcPts val="5179"/>
              </a:lnSpc>
            </a:pPr>
            <a:r>
              <a:rPr lang="en-US" sz="3699" b="1" dirty="0">
                <a:solidFill>
                  <a:srgbClr val="FFFFFF"/>
                </a:solidFill>
                <a:latin typeface="Garet Bold"/>
                <a:ea typeface="Garet Bold"/>
                <a:cs typeface="Garet Bold"/>
                <a:sym typeface="Garet Bold"/>
              </a:rPr>
              <a:t>Ahmed Mohamed Ismail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Freeform 2"/>
          <p:cNvSpPr/>
          <p:nvPr/>
        </p:nvSpPr>
        <p:spPr>
          <a:xfrm rot="-10800000">
            <a:off x="-190500" y="5676470"/>
            <a:ext cx="4801030" cy="4801030"/>
          </a:xfrm>
          <a:custGeom>
            <a:avLst/>
            <a:gdLst/>
            <a:ahLst/>
            <a:cxnLst/>
            <a:rect l="l" t="t" r="r" b="b"/>
            <a:pathLst>
              <a:path w="4801030" h="4801030">
                <a:moveTo>
                  <a:pt x="0" y="0"/>
                </a:moveTo>
                <a:lnTo>
                  <a:pt x="4801030" y="0"/>
                </a:lnTo>
                <a:lnTo>
                  <a:pt x="4801030" y="4801030"/>
                </a:lnTo>
                <a:lnTo>
                  <a:pt x="0" y="48010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447800" y="3335527"/>
            <a:ext cx="5435532" cy="543553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r="-25046"/>
              </a:stretch>
            </a:blipFill>
          </p:spPr>
          <p:txBody>
            <a:bodyPr/>
            <a:lstStyle/>
            <a:p>
              <a:endParaRPr lang="en-US"/>
            </a:p>
          </p:txBody>
        </p:sp>
      </p:grpSp>
      <p:sp>
        <p:nvSpPr>
          <p:cNvPr id="5" name="TextBox 5"/>
          <p:cNvSpPr txBox="1"/>
          <p:nvPr/>
        </p:nvSpPr>
        <p:spPr>
          <a:xfrm>
            <a:off x="1028700" y="1104900"/>
            <a:ext cx="5061031" cy="1305408"/>
          </a:xfrm>
          <a:prstGeom prst="rect">
            <a:avLst/>
          </a:prstGeom>
        </p:spPr>
        <p:txBody>
          <a:bodyPr lIns="0" tIns="0" rIns="0" bIns="0" rtlCol="0" anchor="t">
            <a:spAutoFit/>
          </a:bodyPr>
          <a:lstStyle/>
          <a:p>
            <a:pPr algn="l">
              <a:lnSpc>
                <a:spcPts val="10023"/>
              </a:lnSpc>
            </a:pPr>
            <a:r>
              <a:rPr lang="en-US" sz="9112">
                <a:solidFill>
                  <a:srgbClr val="000000"/>
                </a:solidFill>
                <a:latin typeface="Playfair Display"/>
                <a:ea typeface="Playfair Display"/>
                <a:cs typeface="Playfair Display"/>
                <a:sym typeface="Playfair Display"/>
              </a:rPr>
              <a:t>Agenda</a:t>
            </a:r>
          </a:p>
        </p:txBody>
      </p:sp>
      <p:grpSp>
        <p:nvGrpSpPr>
          <p:cNvPr id="6" name="Group 6"/>
          <p:cNvGrpSpPr/>
          <p:nvPr/>
        </p:nvGrpSpPr>
        <p:grpSpPr>
          <a:xfrm>
            <a:off x="8536533" y="965253"/>
            <a:ext cx="7785224" cy="860220"/>
            <a:chOff x="0" y="0"/>
            <a:chExt cx="2050429" cy="226560"/>
          </a:xfrm>
        </p:grpSpPr>
        <p:sp>
          <p:nvSpPr>
            <p:cNvPr id="7" name="Freeform 7"/>
            <p:cNvSpPr/>
            <p:nvPr/>
          </p:nvSpPr>
          <p:spPr>
            <a:xfrm>
              <a:off x="0" y="0"/>
              <a:ext cx="2050429" cy="226560"/>
            </a:xfrm>
            <a:custGeom>
              <a:avLst/>
              <a:gdLst/>
              <a:ahLst/>
              <a:cxnLst/>
              <a:rect l="l" t="t" r="r" b="b"/>
              <a:pathLst>
                <a:path w="2050429" h="226560">
                  <a:moveTo>
                    <a:pt x="79555" y="0"/>
                  </a:moveTo>
                  <a:lnTo>
                    <a:pt x="1970874" y="0"/>
                  </a:lnTo>
                  <a:cubicBezTo>
                    <a:pt x="2014811" y="0"/>
                    <a:pt x="2050429" y="35618"/>
                    <a:pt x="2050429" y="79555"/>
                  </a:cubicBezTo>
                  <a:lnTo>
                    <a:pt x="2050429" y="147005"/>
                  </a:lnTo>
                  <a:cubicBezTo>
                    <a:pt x="2050429" y="190942"/>
                    <a:pt x="2014811" y="226560"/>
                    <a:pt x="1970874" y="226560"/>
                  </a:cubicBezTo>
                  <a:lnTo>
                    <a:pt x="79555" y="226560"/>
                  </a:lnTo>
                  <a:cubicBezTo>
                    <a:pt x="35618" y="226560"/>
                    <a:pt x="0" y="190942"/>
                    <a:pt x="0" y="147005"/>
                  </a:cubicBezTo>
                  <a:lnTo>
                    <a:pt x="0" y="79555"/>
                  </a:lnTo>
                  <a:cubicBezTo>
                    <a:pt x="0" y="35618"/>
                    <a:pt x="35618" y="0"/>
                    <a:pt x="79555" y="0"/>
                  </a:cubicBezTo>
                  <a:close/>
                </a:path>
              </a:pathLst>
            </a:custGeom>
            <a:solidFill>
              <a:srgbClr val="706E74"/>
            </a:solidFill>
          </p:spPr>
          <p:txBody>
            <a:bodyPr/>
            <a:lstStyle/>
            <a:p>
              <a:endParaRPr lang="en-US"/>
            </a:p>
          </p:txBody>
        </p:sp>
        <p:sp>
          <p:nvSpPr>
            <p:cNvPr id="8" name="TextBox 8"/>
            <p:cNvSpPr txBox="1"/>
            <p:nvPr/>
          </p:nvSpPr>
          <p:spPr>
            <a:xfrm>
              <a:off x="0" y="-38100"/>
              <a:ext cx="2050429" cy="26466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8835637" y="997508"/>
            <a:ext cx="5325374" cy="721996"/>
          </a:xfrm>
          <a:prstGeom prst="rect">
            <a:avLst/>
          </a:prstGeom>
        </p:spPr>
        <p:txBody>
          <a:bodyPr lIns="0" tIns="0" rIns="0" bIns="0" rtlCol="0" anchor="t">
            <a:spAutoFit/>
          </a:bodyPr>
          <a:lstStyle/>
          <a:p>
            <a:pPr algn="l">
              <a:lnSpc>
                <a:spcPts val="5879"/>
              </a:lnSpc>
            </a:pPr>
            <a:r>
              <a:rPr lang="en-US" sz="4199">
                <a:solidFill>
                  <a:srgbClr val="FFFFFF"/>
                </a:solidFill>
                <a:latin typeface="Garet"/>
                <a:ea typeface="Garet"/>
                <a:cs typeface="Garet"/>
                <a:sym typeface="Garet"/>
              </a:rPr>
              <a:t>1.Introduction</a:t>
            </a:r>
          </a:p>
        </p:txBody>
      </p:sp>
      <p:grpSp>
        <p:nvGrpSpPr>
          <p:cNvPr id="10" name="Group 10"/>
          <p:cNvGrpSpPr/>
          <p:nvPr/>
        </p:nvGrpSpPr>
        <p:grpSpPr>
          <a:xfrm>
            <a:off x="8536533" y="1980198"/>
            <a:ext cx="7785224" cy="860220"/>
            <a:chOff x="0" y="0"/>
            <a:chExt cx="2050429" cy="226560"/>
          </a:xfrm>
        </p:grpSpPr>
        <p:sp>
          <p:nvSpPr>
            <p:cNvPr id="11" name="Freeform 11"/>
            <p:cNvSpPr/>
            <p:nvPr/>
          </p:nvSpPr>
          <p:spPr>
            <a:xfrm>
              <a:off x="0" y="0"/>
              <a:ext cx="2050429" cy="226560"/>
            </a:xfrm>
            <a:custGeom>
              <a:avLst/>
              <a:gdLst/>
              <a:ahLst/>
              <a:cxnLst/>
              <a:rect l="l" t="t" r="r" b="b"/>
              <a:pathLst>
                <a:path w="2050429" h="226560">
                  <a:moveTo>
                    <a:pt x="79555" y="0"/>
                  </a:moveTo>
                  <a:lnTo>
                    <a:pt x="1970874" y="0"/>
                  </a:lnTo>
                  <a:cubicBezTo>
                    <a:pt x="2014811" y="0"/>
                    <a:pt x="2050429" y="35618"/>
                    <a:pt x="2050429" y="79555"/>
                  </a:cubicBezTo>
                  <a:lnTo>
                    <a:pt x="2050429" y="147005"/>
                  </a:lnTo>
                  <a:cubicBezTo>
                    <a:pt x="2050429" y="190942"/>
                    <a:pt x="2014811" y="226560"/>
                    <a:pt x="1970874" y="226560"/>
                  </a:cubicBezTo>
                  <a:lnTo>
                    <a:pt x="79555" y="226560"/>
                  </a:lnTo>
                  <a:cubicBezTo>
                    <a:pt x="35618" y="226560"/>
                    <a:pt x="0" y="190942"/>
                    <a:pt x="0" y="147005"/>
                  </a:cubicBezTo>
                  <a:lnTo>
                    <a:pt x="0" y="79555"/>
                  </a:lnTo>
                  <a:cubicBezTo>
                    <a:pt x="0" y="35618"/>
                    <a:pt x="35618" y="0"/>
                    <a:pt x="79555" y="0"/>
                  </a:cubicBezTo>
                  <a:close/>
                </a:path>
              </a:pathLst>
            </a:custGeom>
            <a:solidFill>
              <a:srgbClr val="706E74"/>
            </a:solidFill>
          </p:spPr>
          <p:txBody>
            <a:bodyPr/>
            <a:lstStyle/>
            <a:p>
              <a:endParaRPr lang="en-US"/>
            </a:p>
          </p:txBody>
        </p:sp>
        <p:sp>
          <p:nvSpPr>
            <p:cNvPr id="12" name="TextBox 12"/>
            <p:cNvSpPr txBox="1"/>
            <p:nvPr/>
          </p:nvSpPr>
          <p:spPr>
            <a:xfrm>
              <a:off x="0" y="-38100"/>
              <a:ext cx="2050429" cy="26466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8835637" y="2006448"/>
            <a:ext cx="7187016" cy="721996"/>
          </a:xfrm>
          <a:prstGeom prst="rect">
            <a:avLst/>
          </a:prstGeom>
        </p:spPr>
        <p:txBody>
          <a:bodyPr lIns="0" tIns="0" rIns="0" bIns="0" rtlCol="0" anchor="t">
            <a:spAutoFit/>
          </a:bodyPr>
          <a:lstStyle/>
          <a:p>
            <a:pPr algn="ctr">
              <a:lnSpc>
                <a:spcPts val="5879"/>
              </a:lnSpc>
            </a:pPr>
            <a:r>
              <a:rPr lang="en-US" sz="4199">
                <a:solidFill>
                  <a:srgbClr val="FFFFFF"/>
                </a:solidFill>
                <a:latin typeface="Garet"/>
                <a:ea typeface="Garet"/>
                <a:cs typeface="Garet"/>
                <a:sym typeface="Garet"/>
              </a:rPr>
              <a:t>2.Data Source &amp; Structure </a:t>
            </a:r>
          </a:p>
        </p:txBody>
      </p:sp>
      <p:grpSp>
        <p:nvGrpSpPr>
          <p:cNvPr id="14" name="Group 14"/>
          <p:cNvGrpSpPr/>
          <p:nvPr/>
        </p:nvGrpSpPr>
        <p:grpSpPr>
          <a:xfrm>
            <a:off x="8536533" y="2996384"/>
            <a:ext cx="7785224" cy="860220"/>
            <a:chOff x="0" y="0"/>
            <a:chExt cx="2050429" cy="226560"/>
          </a:xfrm>
        </p:grpSpPr>
        <p:sp>
          <p:nvSpPr>
            <p:cNvPr id="15" name="Freeform 15"/>
            <p:cNvSpPr/>
            <p:nvPr/>
          </p:nvSpPr>
          <p:spPr>
            <a:xfrm>
              <a:off x="0" y="0"/>
              <a:ext cx="2050429" cy="226560"/>
            </a:xfrm>
            <a:custGeom>
              <a:avLst/>
              <a:gdLst/>
              <a:ahLst/>
              <a:cxnLst/>
              <a:rect l="l" t="t" r="r" b="b"/>
              <a:pathLst>
                <a:path w="2050429" h="226560">
                  <a:moveTo>
                    <a:pt x="79555" y="0"/>
                  </a:moveTo>
                  <a:lnTo>
                    <a:pt x="1970874" y="0"/>
                  </a:lnTo>
                  <a:cubicBezTo>
                    <a:pt x="2014811" y="0"/>
                    <a:pt x="2050429" y="35618"/>
                    <a:pt x="2050429" y="79555"/>
                  </a:cubicBezTo>
                  <a:lnTo>
                    <a:pt x="2050429" y="147005"/>
                  </a:lnTo>
                  <a:cubicBezTo>
                    <a:pt x="2050429" y="190942"/>
                    <a:pt x="2014811" y="226560"/>
                    <a:pt x="1970874" y="226560"/>
                  </a:cubicBezTo>
                  <a:lnTo>
                    <a:pt x="79555" y="226560"/>
                  </a:lnTo>
                  <a:cubicBezTo>
                    <a:pt x="35618" y="226560"/>
                    <a:pt x="0" y="190942"/>
                    <a:pt x="0" y="147005"/>
                  </a:cubicBezTo>
                  <a:lnTo>
                    <a:pt x="0" y="79555"/>
                  </a:lnTo>
                  <a:cubicBezTo>
                    <a:pt x="0" y="35618"/>
                    <a:pt x="35618" y="0"/>
                    <a:pt x="79555" y="0"/>
                  </a:cubicBezTo>
                  <a:close/>
                </a:path>
              </a:pathLst>
            </a:custGeom>
            <a:solidFill>
              <a:srgbClr val="706E74"/>
            </a:solidFill>
          </p:spPr>
          <p:txBody>
            <a:bodyPr/>
            <a:lstStyle/>
            <a:p>
              <a:endParaRPr lang="en-US"/>
            </a:p>
          </p:txBody>
        </p:sp>
        <p:sp>
          <p:nvSpPr>
            <p:cNvPr id="16" name="TextBox 16"/>
            <p:cNvSpPr txBox="1"/>
            <p:nvPr/>
          </p:nvSpPr>
          <p:spPr>
            <a:xfrm>
              <a:off x="0" y="-38100"/>
              <a:ext cx="2050429" cy="26466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8835637" y="3011868"/>
            <a:ext cx="7187016" cy="721996"/>
          </a:xfrm>
          <a:prstGeom prst="rect">
            <a:avLst/>
          </a:prstGeom>
        </p:spPr>
        <p:txBody>
          <a:bodyPr lIns="0" tIns="0" rIns="0" bIns="0" rtlCol="0" anchor="t">
            <a:spAutoFit/>
          </a:bodyPr>
          <a:lstStyle/>
          <a:p>
            <a:pPr algn="l">
              <a:lnSpc>
                <a:spcPts val="5879"/>
              </a:lnSpc>
            </a:pPr>
            <a:r>
              <a:rPr lang="en-US" sz="4199">
                <a:solidFill>
                  <a:srgbClr val="FFFFFF"/>
                </a:solidFill>
                <a:latin typeface="Garet"/>
                <a:ea typeface="Garet"/>
                <a:cs typeface="Garet"/>
                <a:sym typeface="Garet"/>
              </a:rPr>
              <a:t>3.Data Preprocessing</a:t>
            </a:r>
          </a:p>
        </p:txBody>
      </p:sp>
      <p:grpSp>
        <p:nvGrpSpPr>
          <p:cNvPr id="18" name="Group 18"/>
          <p:cNvGrpSpPr/>
          <p:nvPr/>
        </p:nvGrpSpPr>
        <p:grpSpPr>
          <a:xfrm>
            <a:off x="8536533" y="4009004"/>
            <a:ext cx="7785224" cy="860220"/>
            <a:chOff x="0" y="0"/>
            <a:chExt cx="2050429" cy="226560"/>
          </a:xfrm>
        </p:grpSpPr>
        <p:sp>
          <p:nvSpPr>
            <p:cNvPr id="19" name="Freeform 19"/>
            <p:cNvSpPr/>
            <p:nvPr/>
          </p:nvSpPr>
          <p:spPr>
            <a:xfrm>
              <a:off x="0" y="0"/>
              <a:ext cx="2050429" cy="226560"/>
            </a:xfrm>
            <a:custGeom>
              <a:avLst/>
              <a:gdLst/>
              <a:ahLst/>
              <a:cxnLst/>
              <a:rect l="l" t="t" r="r" b="b"/>
              <a:pathLst>
                <a:path w="2050429" h="226560">
                  <a:moveTo>
                    <a:pt x="79555" y="0"/>
                  </a:moveTo>
                  <a:lnTo>
                    <a:pt x="1970874" y="0"/>
                  </a:lnTo>
                  <a:cubicBezTo>
                    <a:pt x="2014811" y="0"/>
                    <a:pt x="2050429" y="35618"/>
                    <a:pt x="2050429" y="79555"/>
                  </a:cubicBezTo>
                  <a:lnTo>
                    <a:pt x="2050429" y="147005"/>
                  </a:lnTo>
                  <a:cubicBezTo>
                    <a:pt x="2050429" y="190942"/>
                    <a:pt x="2014811" y="226560"/>
                    <a:pt x="1970874" y="226560"/>
                  </a:cubicBezTo>
                  <a:lnTo>
                    <a:pt x="79555" y="226560"/>
                  </a:lnTo>
                  <a:cubicBezTo>
                    <a:pt x="35618" y="226560"/>
                    <a:pt x="0" y="190942"/>
                    <a:pt x="0" y="147005"/>
                  </a:cubicBezTo>
                  <a:lnTo>
                    <a:pt x="0" y="79555"/>
                  </a:lnTo>
                  <a:cubicBezTo>
                    <a:pt x="0" y="35618"/>
                    <a:pt x="35618" y="0"/>
                    <a:pt x="79555" y="0"/>
                  </a:cubicBezTo>
                  <a:close/>
                </a:path>
              </a:pathLst>
            </a:custGeom>
            <a:solidFill>
              <a:srgbClr val="706E74"/>
            </a:solidFill>
          </p:spPr>
          <p:txBody>
            <a:bodyPr/>
            <a:lstStyle/>
            <a:p>
              <a:endParaRPr lang="en-US"/>
            </a:p>
          </p:txBody>
        </p:sp>
        <p:sp>
          <p:nvSpPr>
            <p:cNvPr id="20" name="TextBox 20"/>
            <p:cNvSpPr txBox="1"/>
            <p:nvPr/>
          </p:nvSpPr>
          <p:spPr>
            <a:xfrm>
              <a:off x="0" y="-38100"/>
              <a:ext cx="2050429" cy="264660"/>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8835637" y="4037579"/>
            <a:ext cx="7187016" cy="721996"/>
          </a:xfrm>
          <a:prstGeom prst="rect">
            <a:avLst/>
          </a:prstGeom>
        </p:spPr>
        <p:txBody>
          <a:bodyPr lIns="0" tIns="0" rIns="0" bIns="0" rtlCol="0" anchor="t">
            <a:spAutoFit/>
          </a:bodyPr>
          <a:lstStyle/>
          <a:p>
            <a:pPr algn="l">
              <a:lnSpc>
                <a:spcPts val="5879"/>
              </a:lnSpc>
            </a:pPr>
            <a:r>
              <a:rPr lang="en-US" sz="4199">
                <a:solidFill>
                  <a:srgbClr val="FFFFFF"/>
                </a:solidFill>
                <a:latin typeface="Garet"/>
                <a:ea typeface="Garet"/>
                <a:cs typeface="Garet"/>
                <a:sym typeface="Garet"/>
              </a:rPr>
              <a:t>4.Data Modeling</a:t>
            </a:r>
          </a:p>
        </p:txBody>
      </p:sp>
      <p:grpSp>
        <p:nvGrpSpPr>
          <p:cNvPr id="22" name="Group 22"/>
          <p:cNvGrpSpPr/>
          <p:nvPr/>
        </p:nvGrpSpPr>
        <p:grpSpPr>
          <a:xfrm>
            <a:off x="8536533" y="5021623"/>
            <a:ext cx="7785224" cy="860220"/>
            <a:chOff x="0" y="0"/>
            <a:chExt cx="2050429" cy="226560"/>
          </a:xfrm>
        </p:grpSpPr>
        <p:sp>
          <p:nvSpPr>
            <p:cNvPr id="23" name="Freeform 23"/>
            <p:cNvSpPr/>
            <p:nvPr/>
          </p:nvSpPr>
          <p:spPr>
            <a:xfrm>
              <a:off x="0" y="0"/>
              <a:ext cx="2050429" cy="226560"/>
            </a:xfrm>
            <a:custGeom>
              <a:avLst/>
              <a:gdLst/>
              <a:ahLst/>
              <a:cxnLst/>
              <a:rect l="l" t="t" r="r" b="b"/>
              <a:pathLst>
                <a:path w="2050429" h="226560">
                  <a:moveTo>
                    <a:pt x="79555" y="0"/>
                  </a:moveTo>
                  <a:lnTo>
                    <a:pt x="1970874" y="0"/>
                  </a:lnTo>
                  <a:cubicBezTo>
                    <a:pt x="2014811" y="0"/>
                    <a:pt x="2050429" y="35618"/>
                    <a:pt x="2050429" y="79555"/>
                  </a:cubicBezTo>
                  <a:lnTo>
                    <a:pt x="2050429" y="147005"/>
                  </a:lnTo>
                  <a:cubicBezTo>
                    <a:pt x="2050429" y="190942"/>
                    <a:pt x="2014811" y="226560"/>
                    <a:pt x="1970874" y="226560"/>
                  </a:cubicBezTo>
                  <a:lnTo>
                    <a:pt x="79555" y="226560"/>
                  </a:lnTo>
                  <a:cubicBezTo>
                    <a:pt x="35618" y="226560"/>
                    <a:pt x="0" y="190942"/>
                    <a:pt x="0" y="147005"/>
                  </a:cubicBezTo>
                  <a:lnTo>
                    <a:pt x="0" y="79555"/>
                  </a:lnTo>
                  <a:cubicBezTo>
                    <a:pt x="0" y="35618"/>
                    <a:pt x="35618" y="0"/>
                    <a:pt x="79555" y="0"/>
                  </a:cubicBezTo>
                  <a:close/>
                </a:path>
              </a:pathLst>
            </a:custGeom>
            <a:solidFill>
              <a:srgbClr val="706E74"/>
            </a:solidFill>
          </p:spPr>
          <p:txBody>
            <a:bodyPr/>
            <a:lstStyle/>
            <a:p>
              <a:endParaRPr lang="en-US"/>
            </a:p>
          </p:txBody>
        </p:sp>
        <p:sp>
          <p:nvSpPr>
            <p:cNvPr id="24" name="TextBox 24"/>
            <p:cNvSpPr txBox="1"/>
            <p:nvPr/>
          </p:nvSpPr>
          <p:spPr>
            <a:xfrm>
              <a:off x="0" y="-38100"/>
              <a:ext cx="2050429" cy="264660"/>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8536533" y="6036568"/>
            <a:ext cx="7785224" cy="860220"/>
            <a:chOff x="0" y="0"/>
            <a:chExt cx="2050429" cy="226560"/>
          </a:xfrm>
        </p:grpSpPr>
        <p:sp>
          <p:nvSpPr>
            <p:cNvPr id="26" name="Freeform 26"/>
            <p:cNvSpPr/>
            <p:nvPr/>
          </p:nvSpPr>
          <p:spPr>
            <a:xfrm>
              <a:off x="0" y="0"/>
              <a:ext cx="2050429" cy="226560"/>
            </a:xfrm>
            <a:custGeom>
              <a:avLst/>
              <a:gdLst/>
              <a:ahLst/>
              <a:cxnLst/>
              <a:rect l="l" t="t" r="r" b="b"/>
              <a:pathLst>
                <a:path w="2050429" h="226560">
                  <a:moveTo>
                    <a:pt x="79555" y="0"/>
                  </a:moveTo>
                  <a:lnTo>
                    <a:pt x="1970874" y="0"/>
                  </a:lnTo>
                  <a:cubicBezTo>
                    <a:pt x="2014811" y="0"/>
                    <a:pt x="2050429" y="35618"/>
                    <a:pt x="2050429" y="79555"/>
                  </a:cubicBezTo>
                  <a:lnTo>
                    <a:pt x="2050429" y="147005"/>
                  </a:lnTo>
                  <a:cubicBezTo>
                    <a:pt x="2050429" y="190942"/>
                    <a:pt x="2014811" y="226560"/>
                    <a:pt x="1970874" y="226560"/>
                  </a:cubicBezTo>
                  <a:lnTo>
                    <a:pt x="79555" y="226560"/>
                  </a:lnTo>
                  <a:cubicBezTo>
                    <a:pt x="35618" y="226560"/>
                    <a:pt x="0" y="190942"/>
                    <a:pt x="0" y="147005"/>
                  </a:cubicBezTo>
                  <a:lnTo>
                    <a:pt x="0" y="79555"/>
                  </a:lnTo>
                  <a:cubicBezTo>
                    <a:pt x="0" y="35618"/>
                    <a:pt x="35618" y="0"/>
                    <a:pt x="79555" y="0"/>
                  </a:cubicBezTo>
                  <a:close/>
                </a:path>
              </a:pathLst>
            </a:custGeom>
            <a:solidFill>
              <a:srgbClr val="706E74"/>
            </a:solidFill>
          </p:spPr>
          <p:txBody>
            <a:bodyPr/>
            <a:lstStyle/>
            <a:p>
              <a:endParaRPr lang="en-US"/>
            </a:p>
          </p:txBody>
        </p:sp>
        <p:sp>
          <p:nvSpPr>
            <p:cNvPr id="27" name="TextBox 27"/>
            <p:cNvSpPr txBox="1"/>
            <p:nvPr/>
          </p:nvSpPr>
          <p:spPr>
            <a:xfrm>
              <a:off x="0" y="-38100"/>
              <a:ext cx="2050429" cy="264660"/>
            </a:xfrm>
            <a:prstGeom prst="rect">
              <a:avLst/>
            </a:prstGeom>
          </p:spPr>
          <p:txBody>
            <a:bodyPr lIns="50800" tIns="50800" rIns="50800" bIns="50800" rtlCol="0" anchor="ctr"/>
            <a:lstStyle/>
            <a:p>
              <a:pPr algn="ctr">
                <a:lnSpc>
                  <a:spcPts val="2659"/>
                </a:lnSpc>
                <a:spcBef>
                  <a:spcPct val="0"/>
                </a:spcBef>
              </a:pPr>
              <a:endParaRPr/>
            </a:p>
          </p:txBody>
        </p:sp>
      </p:grpSp>
      <p:sp>
        <p:nvSpPr>
          <p:cNvPr id="28" name="TextBox 28"/>
          <p:cNvSpPr txBox="1"/>
          <p:nvPr/>
        </p:nvSpPr>
        <p:spPr>
          <a:xfrm>
            <a:off x="8835637" y="5066923"/>
            <a:ext cx="7187016" cy="722042"/>
          </a:xfrm>
          <a:prstGeom prst="rect">
            <a:avLst/>
          </a:prstGeom>
        </p:spPr>
        <p:txBody>
          <a:bodyPr lIns="0" tIns="0" rIns="0" bIns="0" rtlCol="0" anchor="t">
            <a:spAutoFit/>
          </a:bodyPr>
          <a:lstStyle/>
          <a:p>
            <a:pPr algn="l">
              <a:lnSpc>
                <a:spcPts val="5879"/>
              </a:lnSpc>
            </a:pPr>
            <a:r>
              <a:rPr lang="en-US" sz="4199">
                <a:solidFill>
                  <a:srgbClr val="FFFFFF"/>
                </a:solidFill>
                <a:latin typeface="Garet"/>
                <a:ea typeface="Garet"/>
                <a:cs typeface="Garet"/>
                <a:sym typeface="Garet"/>
              </a:rPr>
              <a:t>5.Data Analysis by SQL</a:t>
            </a:r>
          </a:p>
        </p:txBody>
      </p:sp>
      <p:grpSp>
        <p:nvGrpSpPr>
          <p:cNvPr id="29" name="Group 29"/>
          <p:cNvGrpSpPr/>
          <p:nvPr/>
        </p:nvGrpSpPr>
        <p:grpSpPr>
          <a:xfrm>
            <a:off x="8536533" y="7049188"/>
            <a:ext cx="7785224" cy="860220"/>
            <a:chOff x="0" y="0"/>
            <a:chExt cx="2050429" cy="226560"/>
          </a:xfrm>
        </p:grpSpPr>
        <p:sp>
          <p:nvSpPr>
            <p:cNvPr id="30" name="Freeform 30"/>
            <p:cNvSpPr/>
            <p:nvPr/>
          </p:nvSpPr>
          <p:spPr>
            <a:xfrm>
              <a:off x="0" y="0"/>
              <a:ext cx="2050429" cy="226560"/>
            </a:xfrm>
            <a:custGeom>
              <a:avLst/>
              <a:gdLst/>
              <a:ahLst/>
              <a:cxnLst/>
              <a:rect l="l" t="t" r="r" b="b"/>
              <a:pathLst>
                <a:path w="2050429" h="226560">
                  <a:moveTo>
                    <a:pt x="79555" y="0"/>
                  </a:moveTo>
                  <a:lnTo>
                    <a:pt x="1970874" y="0"/>
                  </a:lnTo>
                  <a:cubicBezTo>
                    <a:pt x="2014811" y="0"/>
                    <a:pt x="2050429" y="35618"/>
                    <a:pt x="2050429" y="79555"/>
                  </a:cubicBezTo>
                  <a:lnTo>
                    <a:pt x="2050429" y="147005"/>
                  </a:lnTo>
                  <a:cubicBezTo>
                    <a:pt x="2050429" y="190942"/>
                    <a:pt x="2014811" y="226560"/>
                    <a:pt x="1970874" y="226560"/>
                  </a:cubicBezTo>
                  <a:lnTo>
                    <a:pt x="79555" y="226560"/>
                  </a:lnTo>
                  <a:cubicBezTo>
                    <a:pt x="35618" y="226560"/>
                    <a:pt x="0" y="190942"/>
                    <a:pt x="0" y="147005"/>
                  </a:cubicBezTo>
                  <a:lnTo>
                    <a:pt x="0" y="79555"/>
                  </a:lnTo>
                  <a:cubicBezTo>
                    <a:pt x="0" y="35618"/>
                    <a:pt x="35618" y="0"/>
                    <a:pt x="79555" y="0"/>
                  </a:cubicBezTo>
                  <a:close/>
                </a:path>
              </a:pathLst>
            </a:custGeom>
            <a:solidFill>
              <a:srgbClr val="706E74"/>
            </a:solidFill>
          </p:spPr>
          <p:txBody>
            <a:bodyPr/>
            <a:lstStyle/>
            <a:p>
              <a:endParaRPr lang="en-US"/>
            </a:p>
          </p:txBody>
        </p:sp>
        <p:sp>
          <p:nvSpPr>
            <p:cNvPr id="31" name="TextBox 31"/>
            <p:cNvSpPr txBox="1"/>
            <p:nvPr/>
          </p:nvSpPr>
          <p:spPr>
            <a:xfrm>
              <a:off x="0" y="-38100"/>
              <a:ext cx="2050429" cy="264660"/>
            </a:xfrm>
            <a:prstGeom prst="rect">
              <a:avLst/>
            </a:prstGeom>
          </p:spPr>
          <p:txBody>
            <a:bodyPr lIns="50800" tIns="50800" rIns="50800" bIns="50800" rtlCol="0" anchor="ctr"/>
            <a:lstStyle/>
            <a:p>
              <a:pPr algn="ctr">
                <a:lnSpc>
                  <a:spcPts val="2659"/>
                </a:lnSpc>
                <a:spcBef>
                  <a:spcPct val="0"/>
                </a:spcBef>
              </a:pPr>
              <a:endParaRPr/>
            </a:p>
          </p:txBody>
        </p:sp>
      </p:grpSp>
      <p:sp>
        <p:nvSpPr>
          <p:cNvPr id="32" name="TextBox 32"/>
          <p:cNvSpPr txBox="1"/>
          <p:nvPr/>
        </p:nvSpPr>
        <p:spPr>
          <a:xfrm>
            <a:off x="8787523" y="7087288"/>
            <a:ext cx="7187016" cy="721996"/>
          </a:xfrm>
          <a:prstGeom prst="rect">
            <a:avLst/>
          </a:prstGeom>
        </p:spPr>
        <p:txBody>
          <a:bodyPr lIns="0" tIns="0" rIns="0" bIns="0" rtlCol="0" anchor="t">
            <a:spAutoFit/>
          </a:bodyPr>
          <a:lstStyle/>
          <a:p>
            <a:pPr algn="l">
              <a:lnSpc>
                <a:spcPts val="5879"/>
              </a:lnSpc>
            </a:pPr>
            <a:r>
              <a:rPr lang="en-US" sz="4199">
                <a:solidFill>
                  <a:srgbClr val="FFFFFF"/>
                </a:solidFill>
                <a:latin typeface="Garet"/>
                <a:ea typeface="Garet"/>
                <a:cs typeface="Garet"/>
                <a:sym typeface="Garet"/>
              </a:rPr>
              <a:t>7.Data Analysis by Python</a:t>
            </a:r>
          </a:p>
        </p:txBody>
      </p:sp>
      <p:grpSp>
        <p:nvGrpSpPr>
          <p:cNvPr id="33" name="Group 33"/>
          <p:cNvGrpSpPr/>
          <p:nvPr/>
        </p:nvGrpSpPr>
        <p:grpSpPr>
          <a:xfrm>
            <a:off x="8536533" y="8054608"/>
            <a:ext cx="7785224" cy="860220"/>
            <a:chOff x="0" y="0"/>
            <a:chExt cx="2050429" cy="226560"/>
          </a:xfrm>
        </p:grpSpPr>
        <p:sp>
          <p:nvSpPr>
            <p:cNvPr id="34" name="Freeform 34"/>
            <p:cNvSpPr/>
            <p:nvPr/>
          </p:nvSpPr>
          <p:spPr>
            <a:xfrm>
              <a:off x="0" y="0"/>
              <a:ext cx="2050429" cy="226560"/>
            </a:xfrm>
            <a:custGeom>
              <a:avLst/>
              <a:gdLst/>
              <a:ahLst/>
              <a:cxnLst/>
              <a:rect l="l" t="t" r="r" b="b"/>
              <a:pathLst>
                <a:path w="2050429" h="226560">
                  <a:moveTo>
                    <a:pt x="79555" y="0"/>
                  </a:moveTo>
                  <a:lnTo>
                    <a:pt x="1970874" y="0"/>
                  </a:lnTo>
                  <a:cubicBezTo>
                    <a:pt x="2014811" y="0"/>
                    <a:pt x="2050429" y="35618"/>
                    <a:pt x="2050429" y="79555"/>
                  </a:cubicBezTo>
                  <a:lnTo>
                    <a:pt x="2050429" y="147005"/>
                  </a:lnTo>
                  <a:cubicBezTo>
                    <a:pt x="2050429" y="190942"/>
                    <a:pt x="2014811" y="226560"/>
                    <a:pt x="1970874" y="226560"/>
                  </a:cubicBezTo>
                  <a:lnTo>
                    <a:pt x="79555" y="226560"/>
                  </a:lnTo>
                  <a:cubicBezTo>
                    <a:pt x="35618" y="226560"/>
                    <a:pt x="0" y="190942"/>
                    <a:pt x="0" y="147005"/>
                  </a:cubicBezTo>
                  <a:lnTo>
                    <a:pt x="0" y="79555"/>
                  </a:lnTo>
                  <a:cubicBezTo>
                    <a:pt x="0" y="35618"/>
                    <a:pt x="35618" y="0"/>
                    <a:pt x="79555" y="0"/>
                  </a:cubicBezTo>
                  <a:close/>
                </a:path>
              </a:pathLst>
            </a:custGeom>
            <a:solidFill>
              <a:srgbClr val="706E74"/>
            </a:solidFill>
          </p:spPr>
          <p:txBody>
            <a:bodyPr/>
            <a:lstStyle/>
            <a:p>
              <a:endParaRPr lang="en-US"/>
            </a:p>
          </p:txBody>
        </p:sp>
        <p:sp>
          <p:nvSpPr>
            <p:cNvPr id="35" name="TextBox 35"/>
            <p:cNvSpPr txBox="1"/>
            <p:nvPr/>
          </p:nvSpPr>
          <p:spPr>
            <a:xfrm>
              <a:off x="0" y="-38100"/>
              <a:ext cx="2050429" cy="264660"/>
            </a:xfrm>
            <a:prstGeom prst="rect">
              <a:avLst/>
            </a:prstGeom>
          </p:spPr>
          <p:txBody>
            <a:bodyPr lIns="50800" tIns="50800" rIns="50800" bIns="50800" rtlCol="0" anchor="ctr"/>
            <a:lstStyle/>
            <a:p>
              <a:pPr algn="ctr">
                <a:lnSpc>
                  <a:spcPts val="2659"/>
                </a:lnSpc>
                <a:spcBef>
                  <a:spcPct val="0"/>
                </a:spcBef>
              </a:pPr>
              <a:endParaRPr/>
            </a:p>
          </p:txBody>
        </p:sp>
      </p:grpSp>
      <p:sp>
        <p:nvSpPr>
          <p:cNvPr id="36" name="TextBox 36"/>
          <p:cNvSpPr txBox="1"/>
          <p:nvPr/>
        </p:nvSpPr>
        <p:spPr>
          <a:xfrm>
            <a:off x="8787523" y="8109432"/>
            <a:ext cx="7187016" cy="721996"/>
          </a:xfrm>
          <a:prstGeom prst="rect">
            <a:avLst/>
          </a:prstGeom>
        </p:spPr>
        <p:txBody>
          <a:bodyPr lIns="0" tIns="0" rIns="0" bIns="0" rtlCol="0" anchor="t">
            <a:spAutoFit/>
          </a:bodyPr>
          <a:lstStyle/>
          <a:p>
            <a:pPr algn="l">
              <a:lnSpc>
                <a:spcPts val="5879"/>
              </a:lnSpc>
            </a:pPr>
            <a:r>
              <a:rPr lang="en-US" sz="4199">
                <a:solidFill>
                  <a:srgbClr val="FFFFFF"/>
                </a:solidFill>
                <a:latin typeface="Garet"/>
                <a:ea typeface="Garet"/>
                <a:cs typeface="Garet"/>
                <a:sym typeface="Garet"/>
              </a:rPr>
              <a:t>8.Data Analysis by Excel</a:t>
            </a:r>
          </a:p>
        </p:txBody>
      </p:sp>
      <p:sp>
        <p:nvSpPr>
          <p:cNvPr id="37" name="TextBox 37"/>
          <p:cNvSpPr txBox="1"/>
          <p:nvPr/>
        </p:nvSpPr>
        <p:spPr>
          <a:xfrm>
            <a:off x="8787523" y="6053293"/>
            <a:ext cx="7534234" cy="729046"/>
          </a:xfrm>
          <a:prstGeom prst="rect">
            <a:avLst/>
          </a:prstGeom>
        </p:spPr>
        <p:txBody>
          <a:bodyPr wrap="square" lIns="0" tIns="0" rIns="0" bIns="0" rtlCol="0" anchor="t">
            <a:spAutoFit/>
          </a:bodyPr>
          <a:lstStyle/>
          <a:p>
            <a:pPr algn="l">
              <a:lnSpc>
                <a:spcPts val="5879"/>
              </a:lnSpc>
            </a:pPr>
            <a:r>
              <a:rPr lang="en-US" sz="4199" dirty="0">
                <a:solidFill>
                  <a:srgbClr val="FFFFFF"/>
                </a:solidFill>
                <a:latin typeface="Garet"/>
                <a:ea typeface="Garet"/>
                <a:cs typeface="Garet"/>
                <a:sym typeface="Garet"/>
              </a:rPr>
              <a:t>6.Data Analysis by Tableau</a:t>
            </a:r>
          </a:p>
        </p:txBody>
      </p:sp>
      <p:grpSp>
        <p:nvGrpSpPr>
          <p:cNvPr id="38" name="Group 38"/>
          <p:cNvGrpSpPr/>
          <p:nvPr/>
        </p:nvGrpSpPr>
        <p:grpSpPr>
          <a:xfrm>
            <a:off x="8536533" y="9067228"/>
            <a:ext cx="7785224" cy="860220"/>
            <a:chOff x="0" y="0"/>
            <a:chExt cx="2050429" cy="226560"/>
          </a:xfrm>
        </p:grpSpPr>
        <p:sp>
          <p:nvSpPr>
            <p:cNvPr id="39" name="Freeform 39"/>
            <p:cNvSpPr/>
            <p:nvPr/>
          </p:nvSpPr>
          <p:spPr>
            <a:xfrm>
              <a:off x="0" y="0"/>
              <a:ext cx="2050429" cy="226560"/>
            </a:xfrm>
            <a:custGeom>
              <a:avLst/>
              <a:gdLst/>
              <a:ahLst/>
              <a:cxnLst/>
              <a:rect l="l" t="t" r="r" b="b"/>
              <a:pathLst>
                <a:path w="2050429" h="226560">
                  <a:moveTo>
                    <a:pt x="79555" y="0"/>
                  </a:moveTo>
                  <a:lnTo>
                    <a:pt x="1970874" y="0"/>
                  </a:lnTo>
                  <a:cubicBezTo>
                    <a:pt x="2014811" y="0"/>
                    <a:pt x="2050429" y="35618"/>
                    <a:pt x="2050429" y="79555"/>
                  </a:cubicBezTo>
                  <a:lnTo>
                    <a:pt x="2050429" y="147005"/>
                  </a:lnTo>
                  <a:cubicBezTo>
                    <a:pt x="2050429" y="190942"/>
                    <a:pt x="2014811" y="226560"/>
                    <a:pt x="1970874" y="226560"/>
                  </a:cubicBezTo>
                  <a:lnTo>
                    <a:pt x="79555" y="226560"/>
                  </a:lnTo>
                  <a:cubicBezTo>
                    <a:pt x="35618" y="226560"/>
                    <a:pt x="0" y="190942"/>
                    <a:pt x="0" y="147005"/>
                  </a:cubicBezTo>
                  <a:lnTo>
                    <a:pt x="0" y="79555"/>
                  </a:lnTo>
                  <a:cubicBezTo>
                    <a:pt x="0" y="35618"/>
                    <a:pt x="35618" y="0"/>
                    <a:pt x="79555" y="0"/>
                  </a:cubicBezTo>
                  <a:close/>
                </a:path>
              </a:pathLst>
            </a:custGeom>
            <a:solidFill>
              <a:srgbClr val="706E74"/>
            </a:solidFill>
          </p:spPr>
          <p:txBody>
            <a:bodyPr/>
            <a:lstStyle/>
            <a:p>
              <a:endParaRPr lang="en-US"/>
            </a:p>
          </p:txBody>
        </p:sp>
        <p:sp>
          <p:nvSpPr>
            <p:cNvPr id="40" name="TextBox 40"/>
            <p:cNvSpPr txBox="1"/>
            <p:nvPr/>
          </p:nvSpPr>
          <p:spPr>
            <a:xfrm>
              <a:off x="0" y="-38100"/>
              <a:ext cx="2050429" cy="264660"/>
            </a:xfrm>
            <a:prstGeom prst="rect">
              <a:avLst/>
            </a:prstGeom>
          </p:spPr>
          <p:txBody>
            <a:bodyPr lIns="50800" tIns="50800" rIns="50800" bIns="50800" rtlCol="0" anchor="ctr"/>
            <a:lstStyle/>
            <a:p>
              <a:pPr algn="ctr">
                <a:lnSpc>
                  <a:spcPts val="2659"/>
                </a:lnSpc>
                <a:spcBef>
                  <a:spcPct val="0"/>
                </a:spcBef>
              </a:pPr>
              <a:endParaRPr/>
            </a:p>
          </p:txBody>
        </p:sp>
      </p:grpSp>
      <p:sp>
        <p:nvSpPr>
          <p:cNvPr id="41" name="TextBox 41"/>
          <p:cNvSpPr txBox="1"/>
          <p:nvPr/>
        </p:nvSpPr>
        <p:spPr>
          <a:xfrm>
            <a:off x="8787523" y="9076753"/>
            <a:ext cx="7534234" cy="721996"/>
          </a:xfrm>
          <a:prstGeom prst="rect">
            <a:avLst/>
          </a:prstGeom>
        </p:spPr>
        <p:txBody>
          <a:bodyPr lIns="0" tIns="0" rIns="0" bIns="0" rtlCol="0" anchor="t">
            <a:spAutoFit/>
          </a:bodyPr>
          <a:lstStyle/>
          <a:p>
            <a:pPr algn="l">
              <a:lnSpc>
                <a:spcPts val="5879"/>
              </a:lnSpc>
            </a:pPr>
            <a:r>
              <a:rPr lang="en-US" sz="4199">
                <a:solidFill>
                  <a:srgbClr val="FFFFFF"/>
                </a:solidFill>
                <a:latin typeface="Garet"/>
                <a:ea typeface="Garet"/>
                <a:cs typeface="Garet"/>
                <a:sym typeface="Garet"/>
              </a:rPr>
              <a:t>9.Data Analysis by PowerPi</a:t>
            </a:r>
          </a:p>
        </p:txBody>
      </p:sp>
      <p:sp>
        <p:nvSpPr>
          <p:cNvPr id="42" name="AutoShape 42"/>
          <p:cNvSpPr/>
          <p:nvPr/>
        </p:nvSpPr>
        <p:spPr>
          <a:xfrm flipV="1">
            <a:off x="-1411565" y="2728444"/>
            <a:ext cx="7501295" cy="88904"/>
          </a:xfrm>
          <a:prstGeom prst="line">
            <a:avLst/>
          </a:prstGeom>
          <a:ln w="19050"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0" y="9010651"/>
            <a:ext cx="7038315" cy="0"/>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0591800" y="5739356"/>
            <a:ext cx="10303079" cy="9095288"/>
          </a:xfrm>
          <a:custGeom>
            <a:avLst/>
            <a:gdLst/>
            <a:ahLst/>
            <a:cxnLst/>
            <a:rect l="l" t="t" r="r" b="b"/>
            <a:pathLst>
              <a:path w="6264479" h="6275890">
                <a:moveTo>
                  <a:pt x="0" y="0"/>
                </a:moveTo>
                <a:lnTo>
                  <a:pt x="6264479" y="0"/>
                </a:lnTo>
                <a:lnTo>
                  <a:pt x="6264479" y="6275890"/>
                </a:lnTo>
                <a:lnTo>
                  <a:pt x="0" y="62758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1028700" y="1123950"/>
            <a:ext cx="8419468" cy="1432616"/>
          </a:xfrm>
          <a:prstGeom prst="rect">
            <a:avLst/>
          </a:prstGeom>
        </p:spPr>
        <p:txBody>
          <a:bodyPr lIns="0" tIns="0" rIns="0" bIns="0" rtlCol="0" anchor="t">
            <a:spAutoFit/>
          </a:bodyPr>
          <a:lstStyle/>
          <a:p>
            <a:pPr algn="l">
              <a:lnSpc>
                <a:spcPts val="11059"/>
              </a:lnSpc>
            </a:pPr>
            <a:r>
              <a:rPr lang="en-US" sz="10054" b="1">
                <a:solidFill>
                  <a:srgbClr val="000000"/>
                </a:solidFill>
                <a:latin typeface="Playfair Display Bold"/>
                <a:ea typeface="Playfair Display Bold"/>
                <a:cs typeface="Playfair Display Bold"/>
                <a:sym typeface="Playfair Display Bold"/>
              </a:rPr>
              <a:t>1.Introduction</a:t>
            </a:r>
          </a:p>
        </p:txBody>
      </p:sp>
      <p:sp>
        <p:nvSpPr>
          <p:cNvPr id="5" name="TextBox 5"/>
          <p:cNvSpPr txBox="1"/>
          <p:nvPr/>
        </p:nvSpPr>
        <p:spPr>
          <a:xfrm>
            <a:off x="1028700" y="3206115"/>
            <a:ext cx="13431484" cy="5080636"/>
          </a:xfrm>
          <a:prstGeom prst="rect">
            <a:avLst/>
          </a:prstGeom>
        </p:spPr>
        <p:txBody>
          <a:bodyPr lIns="0" tIns="0" rIns="0" bIns="0" rtlCol="0" anchor="t">
            <a:spAutoFit/>
          </a:bodyPr>
          <a:lstStyle/>
          <a:p>
            <a:pPr algn="just">
              <a:lnSpc>
                <a:spcPts val="5039"/>
              </a:lnSpc>
            </a:pPr>
            <a:r>
              <a:rPr lang="en-US" sz="3599">
                <a:solidFill>
                  <a:srgbClr val="000000"/>
                </a:solidFill>
                <a:latin typeface="Garet"/>
                <a:ea typeface="Garet"/>
                <a:cs typeface="Garet"/>
                <a:sym typeface="Garet"/>
              </a:rPr>
              <a:t>Aviation accidents and bird strikes are major safety concerns in air transportation. Despite advances in aircraft technology, bird strikes—especially during takeoff and landing—can cause engine damage, windshield penetration, or loss of control. Analyzing these incidents helps improve safety measures, risk assessment, and preventive strategies in aviation operations.</a:t>
            </a:r>
          </a:p>
        </p:txBody>
      </p:sp>
      <p:sp>
        <p:nvSpPr>
          <p:cNvPr id="6" name="AutoShape 6"/>
          <p:cNvSpPr/>
          <p:nvPr/>
        </p:nvSpPr>
        <p:spPr>
          <a:xfrm>
            <a:off x="-1411565" y="2817347"/>
            <a:ext cx="13755343" cy="0"/>
          </a:xfrm>
          <a:prstGeom prst="line">
            <a:avLst/>
          </a:prstGeom>
          <a:ln w="19050"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2" name="Freeform 2">
            <a:extLst>
              <a:ext uri="{FF2B5EF4-FFF2-40B4-BE49-F238E27FC236}">
                <a16:creationId xmlns:a16="http://schemas.microsoft.com/office/drawing/2014/main" id="{29F7FFE8-BECF-1DB6-0171-099F02DBA8E4}"/>
              </a:ext>
            </a:extLst>
          </p:cNvPr>
          <p:cNvSpPr/>
          <p:nvPr/>
        </p:nvSpPr>
        <p:spPr>
          <a:xfrm>
            <a:off x="14182511" y="1085089"/>
            <a:ext cx="3841493" cy="3841493"/>
          </a:xfrm>
          <a:custGeom>
            <a:avLst/>
            <a:gdLst/>
            <a:ahLst/>
            <a:cxnLst/>
            <a:rect l="l" t="t" r="r" b="b"/>
            <a:pathLst>
              <a:path w="7082602" h="7082602">
                <a:moveTo>
                  <a:pt x="0" y="0"/>
                </a:moveTo>
                <a:lnTo>
                  <a:pt x="7082602" y="0"/>
                </a:lnTo>
                <a:lnTo>
                  <a:pt x="7082602" y="7082603"/>
                </a:lnTo>
                <a:lnTo>
                  <a:pt x="0" y="7082603"/>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 name="Freeform 2"/>
          <p:cNvSpPr/>
          <p:nvPr/>
        </p:nvSpPr>
        <p:spPr>
          <a:xfrm>
            <a:off x="14182512" y="5021646"/>
            <a:ext cx="3841493" cy="3841493"/>
          </a:xfrm>
          <a:custGeom>
            <a:avLst/>
            <a:gdLst/>
            <a:ahLst/>
            <a:cxnLst/>
            <a:rect l="l" t="t" r="r" b="b"/>
            <a:pathLst>
              <a:path w="7082602" h="7082602">
                <a:moveTo>
                  <a:pt x="0" y="0"/>
                </a:moveTo>
                <a:lnTo>
                  <a:pt x="7082602" y="0"/>
                </a:lnTo>
                <a:lnTo>
                  <a:pt x="7082602" y="7082603"/>
                </a:lnTo>
                <a:lnTo>
                  <a:pt x="0" y="7082603"/>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14503985" y="1390886"/>
            <a:ext cx="3198543" cy="319854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t="-473" b="-473"/>
              </a:stretch>
            </a:blipFill>
          </p:spPr>
          <p:txBody>
            <a:bodyPr/>
            <a:lstStyle/>
            <a:p>
              <a:endParaRPr lang="en-US"/>
            </a:p>
          </p:txBody>
        </p:sp>
      </p:grpSp>
      <p:sp>
        <p:nvSpPr>
          <p:cNvPr id="5" name="AutoShape 5"/>
          <p:cNvSpPr/>
          <p:nvPr/>
        </p:nvSpPr>
        <p:spPr>
          <a:xfrm>
            <a:off x="-8172739" y="8550248"/>
            <a:ext cx="13755343" cy="0"/>
          </a:xfrm>
          <a:prstGeom prst="line">
            <a:avLst/>
          </a:prstGeom>
          <a:ln w="19050" cap="flat">
            <a:solidFill>
              <a:srgbClr val="000000"/>
            </a:solidFill>
            <a:prstDash val="solid"/>
            <a:headEnd type="none" w="sm" len="sm"/>
            <a:tailEnd type="none" w="sm" len="sm"/>
          </a:ln>
        </p:spPr>
        <p:txBody>
          <a:bodyPr/>
          <a:lstStyle/>
          <a:p>
            <a:endParaRPr lang="en-US"/>
          </a:p>
        </p:txBody>
      </p:sp>
      <p:sp>
        <p:nvSpPr>
          <p:cNvPr id="6" name="Freeform 6"/>
          <p:cNvSpPr/>
          <p:nvPr/>
        </p:nvSpPr>
        <p:spPr>
          <a:xfrm>
            <a:off x="14587789" y="5372100"/>
            <a:ext cx="3030942" cy="3045521"/>
          </a:xfrm>
          <a:custGeom>
            <a:avLst/>
            <a:gdLst/>
            <a:ahLst/>
            <a:cxnLst/>
            <a:rect l="l" t="t" r="r" b="b"/>
            <a:pathLst>
              <a:path w="3030942" h="3045521">
                <a:moveTo>
                  <a:pt x="0" y="0"/>
                </a:moveTo>
                <a:lnTo>
                  <a:pt x="3030941" y="0"/>
                </a:lnTo>
                <a:lnTo>
                  <a:pt x="3030941" y="3045521"/>
                </a:lnTo>
                <a:lnTo>
                  <a:pt x="0" y="3045521"/>
                </a:lnTo>
                <a:lnTo>
                  <a:pt x="0" y="0"/>
                </a:lnTo>
                <a:close/>
              </a:path>
            </a:pathLst>
          </a:custGeom>
          <a:blipFill>
            <a:blip r:embed="rId5"/>
            <a:stretch>
              <a:fillRect l="-45696" r="-45696"/>
            </a:stretch>
          </a:blipFill>
        </p:spPr>
        <p:txBody>
          <a:bodyPr/>
          <a:lstStyle/>
          <a:p>
            <a:endParaRPr lang="en-US"/>
          </a:p>
        </p:txBody>
      </p:sp>
      <p:sp>
        <p:nvSpPr>
          <p:cNvPr id="7" name="TextBox 7"/>
          <p:cNvSpPr txBox="1"/>
          <p:nvPr/>
        </p:nvSpPr>
        <p:spPr>
          <a:xfrm>
            <a:off x="618624" y="836815"/>
            <a:ext cx="9927960" cy="1108142"/>
          </a:xfrm>
          <a:prstGeom prst="rect">
            <a:avLst/>
          </a:prstGeom>
        </p:spPr>
        <p:txBody>
          <a:bodyPr lIns="0" tIns="0" rIns="0" bIns="0" rtlCol="0" anchor="t">
            <a:spAutoFit/>
          </a:bodyPr>
          <a:lstStyle/>
          <a:p>
            <a:pPr algn="l">
              <a:lnSpc>
                <a:spcPts val="8530"/>
              </a:lnSpc>
            </a:pPr>
            <a:r>
              <a:rPr lang="en-US" sz="7755" b="1" i="1">
                <a:solidFill>
                  <a:srgbClr val="000000"/>
                </a:solidFill>
                <a:latin typeface="Playfair Display Bold Italics"/>
                <a:ea typeface="Playfair Display Bold Italics"/>
                <a:cs typeface="Playfair Display Bold Italics"/>
                <a:sym typeface="Playfair Display Bold Italics"/>
              </a:rPr>
              <a:t>2. Data Source </a:t>
            </a:r>
          </a:p>
        </p:txBody>
      </p:sp>
      <p:sp>
        <p:nvSpPr>
          <p:cNvPr id="8" name="TextBox 8"/>
          <p:cNvSpPr txBox="1"/>
          <p:nvPr/>
        </p:nvSpPr>
        <p:spPr>
          <a:xfrm>
            <a:off x="618624" y="2738195"/>
            <a:ext cx="13055633" cy="5632952"/>
          </a:xfrm>
          <a:prstGeom prst="rect">
            <a:avLst/>
          </a:prstGeom>
        </p:spPr>
        <p:txBody>
          <a:bodyPr lIns="0" tIns="0" rIns="0" bIns="0" rtlCol="0" anchor="t">
            <a:spAutoFit/>
          </a:bodyPr>
          <a:lstStyle/>
          <a:p>
            <a:pPr algn="just">
              <a:lnSpc>
                <a:spcPts val="4899"/>
              </a:lnSpc>
            </a:pPr>
            <a:r>
              <a:rPr lang="en-US" sz="3499" dirty="0">
                <a:solidFill>
                  <a:srgbClr val="000000"/>
                </a:solidFill>
                <a:latin typeface="Garet"/>
                <a:ea typeface="Garet"/>
                <a:cs typeface="Garet"/>
                <a:sym typeface="Garet"/>
              </a:rPr>
              <a:t>Our analysis utilizes two major U.S. aviation datasets: the National Transportation Safety Board (NTSB) Aircraft Accident Database and the Federal Aviation Administration (FAA) Wildlife Strike Database. Together, these datasets, containing more than 300,000 Records and spanning the period from 1996 to 2025, provide a comprehensive foundation for analyzing trends in aircraft accidents and wildlife-related hazards.</a:t>
            </a:r>
          </a:p>
          <a:p>
            <a:pPr algn="just">
              <a:lnSpc>
                <a:spcPts val="4899"/>
              </a:lnSpc>
            </a:pPr>
            <a:endParaRPr lang="en-US" sz="3499" dirty="0">
              <a:solidFill>
                <a:srgbClr val="000000"/>
              </a:solidFill>
              <a:latin typeface="Garet"/>
              <a:ea typeface="Garet"/>
              <a:cs typeface="Garet"/>
              <a:sym typeface="Garet"/>
            </a:endParaRPr>
          </a:p>
        </p:txBody>
      </p:sp>
      <p:sp>
        <p:nvSpPr>
          <p:cNvPr id="9" name="TextBox 9"/>
          <p:cNvSpPr txBox="1"/>
          <p:nvPr/>
        </p:nvSpPr>
        <p:spPr>
          <a:xfrm>
            <a:off x="210771" y="9191625"/>
            <a:ext cx="6311713" cy="613365"/>
          </a:xfrm>
          <a:prstGeom prst="rect">
            <a:avLst/>
          </a:prstGeom>
        </p:spPr>
        <p:txBody>
          <a:bodyPr lIns="0" tIns="0" rIns="0" bIns="0" rtlCol="0" anchor="t">
            <a:spAutoFit/>
          </a:bodyPr>
          <a:lstStyle/>
          <a:p>
            <a:pPr algn="ctr">
              <a:lnSpc>
                <a:spcPts val="5039"/>
              </a:lnSpc>
              <a:spcBef>
                <a:spcPct val="0"/>
              </a:spcBef>
            </a:pPr>
            <a:r>
              <a:rPr lang="en-US" sz="3599" b="1">
                <a:solidFill>
                  <a:srgbClr val="000000"/>
                </a:solidFill>
                <a:latin typeface="Canva Sans Bold"/>
                <a:ea typeface="Canva Sans Bold"/>
                <a:cs typeface="Canva Sans Bold"/>
                <a:sym typeface="Canva Sans Bold"/>
              </a:rPr>
              <a:t>https://www.faa.gov/data</a:t>
            </a:r>
          </a:p>
        </p:txBody>
      </p:sp>
      <p:sp>
        <p:nvSpPr>
          <p:cNvPr id="10" name="TextBox 10"/>
          <p:cNvSpPr txBox="1"/>
          <p:nvPr/>
        </p:nvSpPr>
        <p:spPr>
          <a:xfrm>
            <a:off x="481204" y="8645043"/>
            <a:ext cx="5361896" cy="613211"/>
          </a:xfrm>
          <a:prstGeom prst="rect">
            <a:avLst/>
          </a:prstGeom>
        </p:spPr>
        <p:txBody>
          <a:bodyPr lIns="0" tIns="0" rIns="0" bIns="0" rtlCol="0" anchor="t">
            <a:spAutoFit/>
          </a:bodyPr>
          <a:lstStyle/>
          <a:p>
            <a:pPr algn="ctr">
              <a:lnSpc>
                <a:spcPts val="5048"/>
              </a:lnSpc>
              <a:spcBef>
                <a:spcPct val="0"/>
              </a:spcBef>
            </a:pPr>
            <a:r>
              <a:rPr lang="en-US" sz="3606" b="1">
                <a:solidFill>
                  <a:srgbClr val="000000"/>
                </a:solidFill>
                <a:latin typeface="Canva Sans Bold"/>
                <a:ea typeface="Canva Sans Bold"/>
                <a:cs typeface="Canva Sans Bold"/>
                <a:sym typeface="Canva Sans Bold"/>
                <a:hlinkClick r:id="rId6" tooltip="https://www.ntsb.gov"/>
              </a:rPr>
              <a:t>https://www.ntsb.gov/</a:t>
            </a:r>
          </a:p>
        </p:txBody>
      </p:sp>
      <p:sp>
        <p:nvSpPr>
          <p:cNvPr id="11" name="AutoShape 11"/>
          <p:cNvSpPr/>
          <p:nvPr/>
        </p:nvSpPr>
        <p:spPr>
          <a:xfrm>
            <a:off x="-1474026" y="2357195"/>
            <a:ext cx="13755343" cy="0"/>
          </a:xfrm>
          <a:prstGeom prst="line">
            <a:avLst/>
          </a:prstGeom>
          <a:ln w="19050" cap="flat">
            <a:solidFill>
              <a:srgbClr val="000000"/>
            </a:solidFill>
            <a:prstDash val="solid"/>
            <a:headEnd type="none" w="sm" len="sm"/>
            <a:tailEnd type="none" w="sm" len="sm"/>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1411565" y="2817347"/>
            <a:ext cx="13755343" cy="0"/>
          </a:xfrm>
          <a:prstGeom prst="line">
            <a:avLst/>
          </a:prstGeom>
          <a:ln w="19050" cap="flat">
            <a:solidFill>
              <a:srgbClr val="000000"/>
            </a:solidFill>
            <a:prstDash val="solid"/>
            <a:headEnd type="none" w="sm" len="sm"/>
            <a:tailEnd type="none" w="sm" len="sm"/>
          </a:ln>
        </p:spPr>
        <p:txBody>
          <a:bodyPr/>
          <a:lstStyle/>
          <a:p>
            <a:endParaRPr lang="en-US"/>
          </a:p>
        </p:txBody>
      </p:sp>
      <p:grpSp>
        <p:nvGrpSpPr>
          <p:cNvPr id="3" name="Group 3"/>
          <p:cNvGrpSpPr/>
          <p:nvPr/>
        </p:nvGrpSpPr>
        <p:grpSpPr>
          <a:xfrm>
            <a:off x="2130634" y="3744893"/>
            <a:ext cx="5108366" cy="986816"/>
            <a:chOff x="0" y="0"/>
            <a:chExt cx="1567937" cy="259902"/>
          </a:xfrm>
        </p:grpSpPr>
        <p:sp>
          <p:nvSpPr>
            <p:cNvPr id="4" name="Freeform 4"/>
            <p:cNvSpPr/>
            <p:nvPr/>
          </p:nvSpPr>
          <p:spPr>
            <a:xfrm>
              <a:off x="0" y="0"/>
              <a:ext cx="1567937" cy="259902"/>
            </a:xfrm>
            <a:custGeom>
              <a:avLst/>
              <a:gdLst/>
              <a:ahLst/>
              <a:cxnLst/>
              <a:rect l="l" t="t" r="r" b="b"/>
              <a:pathLst>
                <a:path w="1567937" h="259902">
                  <a:moveTo>
                    <a:pt x="50718" y="0"/>
                  </a:moveTo>
                  <a:lnTo>
                    <a:pt x="1517219" y="0"/>
                  </a:lnTo>
                  <a:cubicBezTo>
                    <a:pt x="1530670" y="0"/>
                    <a:pt x="1543570" y="5343"/>
                    <a:pt x="1553082" y="14855"/>
                  </a:cubicBezTo>
                  <a:cubicBezTo>
                    <a:pt x="1562593" y="24366"/>
                    <a:pt x="1567937" y="37266"/>
                    <a:pt x="1567937" y="50718"/>
                  </a:cubicBezTo>
                  <a:lnTo>
                    <a:pt x="1567937" y="209185"/>
                  </a:lnTo>
                  <a:cubicBezTo>
                    <a:pt x="1567937" y="237195"/>
                    <a:pt x="1545230" y="259902"/>
                    <a:pt x="1517219" y="259902"/>
                  </a:cubicBezTo>
                  <a:lnTo>
                    <a:pt x="50718" y="259902"/>
                  </a:lnTo>
                  <a:cubicBezTo>
                    <a:pt x="37266" y="259902"/>
                    <a:pt x="24366" y="254559"/>
                    <a:pt x="14855" y="245047"/>
                  </a:cubicBezTo>
                  <a:cubicBezTo>
                    <a:pt x="5343" y="235536"/>
                    <a:pt x="0" y="222636"/>
                    <a:pt x="0" y="209185"/>
                  </a:cubicBezTo>
                  <a:lnTo>
                    <a:pt x="0" y="50718"/>
                  </a:lnTo>
                  <a:cubicBezTo>
                    <a:pt x="0" y="37266"/>
                    <a:pt x="5343" y="24366"/>
                    <a:pt x="14855" y="14855"/>
                  </a:cubicBezTo>
                  <a:cubicBezTo>
                    <a:pt x="24366" y="5343"/>
                    <a:pt x="37266" y="0"/>
                    <a:pt x="50718" y="0"/>
                  </a:cubicBezTo>
                  <a:close/>
                </a:path>
              </a:pathLst>
            </a:custGeom>
            <a:solidFill>
              <a:srgbClr val="706E74"/>
            </a:solidFill>
          </p:spPr>
          <p:txBody>
            <a:bodyPr/>
            <a:lstStyle/>
            <a:p>
              <a:endParaRPr lang="en-US"/>
            </a:p>
          </p:txBody>
        </p:sp>
        <p:sp>
          <p:nvSpPr>
            <p:cNvPr id="5" name="TextBox 5"/>
            <p:cNvSpPr txBox="1"/>
            <p:nvPr/>
          </p:nvSpPr>
          <p:spPr>
            <a:xfrm>
              <a:off x="0" y="-38100"/>
              <a:ext cx="1567937" cy="298002"/>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5791200" y="8496300"/>
            <a:ext cx="15468600" cy="3178787"/>
          </a:xfrm>
          <a:custGeom>
            <a:avLst/>
            <a:gdLst/>
            <a:ahLst/>
            <a:cxnLst/>
            <a:rect l="l" t="t" r="r" b="b"/>
            <a:pathLst>
              <a:path w="7315200" h="3178787">
                <a:moveTo>
                  <a:pt x="0" y="0"/>
                </a:moveTo>
                <a:lnTo>
                  <a:pt x="7315200" y="0"/>
                </a:lnTo>
                <a:lnTo>
                  <a:pt x="7315200" y="3178787"/>
                </a:lnTo>
                <a:lnTo>
                  <a:pt x="0" y="317878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2552699" y="3874156"/>
            <a:ext cx="3787907" cy="587376"/>
          </a:xfrm>
          <a:prstGeom prst="rect">
            <a:avLst/>
          </a:prstGeom>
        </p:spPr>
        <p:txBody>
          <a:bodyPr lIns="0" tIns="0" rIns="0" bIns="0" rtlCol="0" anchor="t">
            <a:spAutoFit/>
          </a:bodyPr>
          <a:lstStyle/>
          <a:p>
            <a:pPr algn="ctr">
              <a:lnSpc>
                <a:spcPts val="4899"/>
              </a:lnSpc>
            </a:pPr>
            <a:r>
              <a:rPr lang="en-US" sz="3499">
                <a:solidFill>
                  <a:srgbClr val="FFFFFF"/>
                </a:solidFill>
                <a:latin typeface="Garet"/>
                <a:ea typeface="Garet"/>
                <a:cs typeface="Garet"/>
                <a:sym typeface="Garet"/>
              </a:rPr>
              <a:t>A-Data Cleaning</a:t>
            </a:r>
          </a:p>
        </p:txBody>
      </p:sp>
      <p:sp>
        <p:nvSpPr>
          <p:cNvPr id="8" name="TextBox 8"/>
          <p:cNvSpPr txBox="1"/>
          <p:nvPr/>
        </p:nvSpPr>
        <p:spPr>
          <a:xfrm>
            <a:off x="476721" y="1133475"/>
            <a:ext cx="14112656" cy="1371037"/>
          </a:xfrm>
          <a:prstGeom prst="rect">
            <a:avLst/>
          </a:prstGeom>
        </p:spPr>
        <p:txBody>
          <a:bodyPr lIns="0" tIns="0" rIns="0" bIns="0" rtlCol="0" anchor="t">
            <a:spAutoFit/>
          </a:bodyPr>
          <a:lstStyle/>
          <a:p>
            <a:pPr algn="just">
              <a:lnSpc>
                <a:spcPts val="10676"/>
              </a:lnSpc>
            </a:pPr>
            <a:r>
              <a:rPr lang="en-US" sz="9705">
                <a:solidFill>
                  <a:srgbClr val="000000"/>
                </a:solidFill>
                <a:latin typeface="Playfair Display"/>
                <a:ea typeface="Playfair Display"/>
                <a:cs typeface="Playfair Display"/>
                <a:sym typeface="Playfair Display"/>
              </a:rPr>
              <a:t>3.Data Preprocessing</a:t>
            </a:r>
          </a:p>
        </p:txBody>
      </p:sp>
      <p:sp>
        <p:nvSpPr>
          <p:cNvPr id="9" name="TextBox 9"/>
          <p:cNvSpPr txBox="1"/>
          <p:nvPr/>
        </p:nvSpPr>
        <p:spPr>
          <a:xfrm>
            <a:off x="1448685" y="5143500"/>
            <a:ext cx="6735844" cy="2083263"/>
          </a:xfrm>
          <a:prstGeom prst="rect">
            <a:avLst/>
          </a:prstGeom>
        </p:spPr>
        <p:txBody>
          <a:bodyPr lIns="0" tIns="0" rIns="0" bIns="0" rtlCol="0" anchor="t">
            <a:spAutoFit/>
          </a:bodyPr>
          <a:lstStyle/>
          <a:p>
            <a:pPr algn="ctr">
              <a:lnSpc>
                <a:spcPts val="4059"/>
              </a:lnSpc>
            </a:pPr>
            <a:r>
              <a:rPr lang="en-US" sz="2899" b="1" dirty="0">
                <a:solidFill>
                  <a:srgbClr val="000000"/>
                </a:solidFill>
                <a:latin typeface="Garet Bold"/>
                <a:ea typeface="Garet Bold"/>
                <a:cs typeface="Garet Bold"/>
                <a:sym typeface="Garet Bold"/>
              </a:rPr>
              <a:t>Data cleaning involved correcting errors, and standardizing formats to ensure accurate and consistent analysis.</a:t>
            </a:r>
          </a:p>
        </p:txBody>
      </p:sp>
      <p:sp>
        <p:nvSpPr>
          <p:cNvPr id="10" name="TextBox 10"/>
          <p:cNvSpPr txBox="1"/>
          <p:nvPr/>
        </p:nvSpPr>
        <p:spPr>
          <a:xfrm>
            <a:off x="9820018" y="4895482"/>
            <a:ext cx="6735844" cy="1931298"/>
          </a:xfrm>
          <a:prstGeom prst="rect">
            <a:avLst/>
          </a:prstGeom>
        </p:spPr>
        <p:txBody>
          <a:bodyPr lIns="0" tIns="0" rIns="0" bIns="0" rtlCol="0" anchor="t">
            <a:spAutoFit/>
          </a:bodyPr>
          <a:lstStyle/>
          <a:p>
            <a:pPr algn="ctr">
              <a:lnSpc>
                <a:spcPts val="3779"/>
              </a:lnSpc>
            </a:pPr>
            <a:r>
              <a:rPr lang="en-US" sz="2700" b="1" dirty="0">
                <a:solidFill>
                  <a:srgbClr val="000000"/>
                </a:solidFill>
                <a:latin typeface="Garet Bold"/>
                <a:ea typeface="Garet Bold"/>
                <a:cs typeface="Garet Bold"/>
                <a:sym typeface="Garet Bold"/>
              </a:rPr>
              <a:t>Missing values were filled using appropriate imputation methods to maintain dataset completeness and integrity.</a:t>
            </a:r>
          </a:p>
        </p:txBody>
      </p:sp>
      <p:grpSp>
        <p:nvGrpSpPr>
          <p:cNvPr id="11" name="Group 11"/>
          <p:cNvGrpSpPr/>
          <p:nvPr/>
        </p:nvGrpSpPr>
        <p:grpSpPr>
          <a:xfrm>
            <a:off x="10187420" y="3651491"/>
            <a:ext cx="5662180" cy="986816"/>
            <a:chOff x="0" y="0"/>
            <a:chExt cx="1491274" cy="259902"/>
          </a:xfrm>
        </p:grpSpPr>
        <p:sp>
          <p:nvSpPr>
            <p:cNvPr id="12" name="Freeform 12"/>
            <p:cNvSpPr/>
            <p:nvPr/>
          </p:nvSpPr>
          <p:spPr>
            <a:xfrm>
              <a:off x="0" y="0"/>
              <a:ext cx="1491274" cy="259902"/>
            </a:xfrm>
            <a:custGeom>
              <a:avLst/>
              <a:gdLst/>
              <a:ahLst/>
              <a:cxnLst/>
              <a:rect l="l" t="t" r="r" b="b"/>
              <a:pathLst>
                <a:path w="1491274" h="259902">
                  <a:moveTo>
                    <a:pt x="53325" y="0"/>
                  </a:moveTo>
                  <a:lnTo>
                    <a:pt x="1437949" y="0"/>
                  </a:lnTo>
                  <a:cubicBezTo>
                    <a:pt x="1467399" y="0"/>
                    <a:pt x="1491274" y="23874"/>
                    <a:pt x="1491274" y="53325"/>
                  </a:cubicBezTo>
                  <a:lnTo>
                    <a:pt x="1491274" y="206577"/>
                  </a:lnTo>
                  <a:cubicBezTo>
                    <a:pt x="1491274" y="220720"/>
                    <a:pt x="1485655" y="234283"/>
                    <a:pt x="1475655" y="244284"/>
                  </a:cubicBezTo>
                  <a:cubicBezTo>
                    <a:pt x="1465655" y="254284"/>
                    <a:pt x="1452091" y="259902"/>
                    <a:pt x="1437949" y="259902"/>
                  </a:cubicBezTo>
                  <a:lnTo>
                    <a:pt x="53325" y="259902"/>
                  </a:lnTo>
                  <a:cubicBezTo>
                    <a:pt x="39182" y="259902"/>
                    <a:pt x="25619" y="254284"/>
                    <a:pt x="15618" y="244284"/>
                  </a:cubicBezTo>
                  <a:cubicBezTo>
                    <a:pt x="5618" y="234283"/>
                    <a:pt x="0" y="220720"/>
                    <a:pt x="0" y="206577"/>
                  </a:cubicBezTo>
                  <a:lnTo>
                    <a:pt x="0" y="53325"/>
                  </a:lnTo>
                  <a:cubicBezTo>
                    <a:pt x="0" y="39182"/>
                    <a:pt x="5618" y="25619"/>
                    <a:pt x="15618" y="15618"/>
                  </a:cubicBezTo>
                  <a:cubicBezTo>
                    <a:pt x="25619" y="5618"/>
                    <a:pt x="39182" y="0"/>
                    <a:pt x="53325" y="0"/>
                  </a:cubicBezTo>
                  <a:close/>
                </a:path>
              </a:pathLst>
            </a:custGeom>
            <a:solidFill>
              <a:srgbClr val="706E74"/>
            </a:solidFill>
          </p:spPr>
          <p:txBody>
            <a:bodyPr/>
            <a:lstStyle/>
            <a:p>
              <a:endParaRPr lang="en-US"/>
            </a:p>
          </p:txBody>
        </p:sp>
        <p:sp>
          <p:nvSpPr>
            <p:cNvPr id="13" name="TextBox 13"/>
            <p:cNvSpPr txBox="1"/>
            <p:nvPr/>
          </p:nvSpPr>
          <p:spPr>
            <a:xfrm>
              <a:off x="0" y="-38100"/>
              <a:ext cx="1491274" cy="298002"/>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0368221" y="3822637"/>
            <a:ext cx="5272414" cy="587376"/>
          </a:xfrm>
          <a:prstGeom prst="rect">
            <a:avLst/>
          </a:prstGeom>
        </p:spPr>
        <p:txBody>
          <a:bodyPr lIns="0" tIns="0" rIns="0" bIns="0" rtlCol="0" anchor="t">
            <a:spAutoFit/>
          </a:bodyPr>
          <a:lstStyle/>
          <a:p>
            <a:pPr algn="ctr">
              <a:lnSpc>
                <a:spcPts val="4899"/>
              </a:lnSpc>
            </a:pPr>
            <a:r>
              <a:rPr lang="en-US" sz="3499">
                <a:solidFill>
                  <a:srgbClr val="FFFFFF"/>
                </a:solidFill>
                <a:latin typeface="Garet"/>
                <a:ea typeface="Garet"/>
                <a:cs typeface="Garet"/>
                <a:sym typeface="Garet"/>
              </a:rPr>
              <a:t>B-Filling Missed Values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6218052" y="3860824"/>
            <a:ext cx="13755343" cy="0"/>
          </a:xfrm>
          <a:prstGeom prst="line">
            <a:avLst/>
          </a:prstGeom>
          <a:ln w="19050" cap="flat">
            <a:solidFill>
              <a:srgbClr val="000000"/>
            </a:solidFill>
            <a:prstDash val="solid"/>
            <a:headEnd type="none" w="sm" len="sm"/>
            <a:tailEnd type="none" w="sm" len="sm"/>
          </a:ln>
        </p:spPr>
        <p:txBody>
          <a:bodyPr/>
          <a:lstStyle/>
          <a:p>
            <a:endParaRPr lang="en-US"/>
          </a:p>
        </p:txBody>
      </p:sp>
      <p:grpSp>
        <p:nvGrpSpPr>
          <p:cNvPr id="3" name="Group 3"/>
          <p:cNvGrpSpPr/>
          <p:nvPr/>
        </p:nvGrpSpPr>
        <p:grpSpPr>
          <a:xfrm>
            <a:off x="11609864" y="3736199"/>
            <a:ext cx="3166565" cy="316656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4000" r="-14000"/>
              </a:stretch>
            </a:blipFill>
          </p:spPr>
          <p:txBody>
            <a:bodyPr/>
            <a:lstStyle/>
            <a:p>
              <a:endParaRPr lang="en-US"/>
            </a:p>
          </p:txBody>
        </p:sp>
      </p:grpSp>
      <p:sp>
        <p:nvSpPr>
          <p:cNvPr id="5" name="Freeform 5"/>
          <p:cNvSpPr/>
          <p:nvPr/>
        </p:nvSpPr>
        <p:spPr>
          <a:xfrm>
            <a:off x="11919732" y="8494957"/>
            <a:ext cx="2546828" cy="2546828"/>
          </a:xfrm>
          <a:custGeom>
            <a:avLst/>
            <a:gdLst/>
            <a:ahLst/>
            <a:cxnLst/>
            <a:rect l="l" t="t" r="r" b="b"/>
            <a:pathLst>
              <a:path w="2546828" h="2546828">
                <a:moveTo>
                  <a:pt x="0" y="0"/>
                </a:moveTo>
                <a:lnTo>
                  <a:pt x="2546829" y="0"/>
                </a:lnTo>
                <a:lnTo>
                  <a:pt x="2546829" y="2546828"/>
                </a:lnTo>
                <a:lnTo>
                  <a:pt x="0" y="2546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3830452" y="8494957"/>
            <a:ext cx="2546828" cy="2546828"/>
          </a:xfrm>
          <a:custGeom>
            <a:avLst/>
            <a:gdLst/>
            <a:ahLst/>
            <a:cxnLst/>
            <a:rect l="l" t="t" r="r" b="b"/>
            <a:pathLst>
              <a:path w="2546828" h="2546828">
                <a:moveTo>
                  <a:pt x="0" y="0"/>
                </a:moveTo>
                <a:lnTo>
                  <a:pt x="2546828" y="0"/>
                </a:lnTo>
                <a:lnTo>
                  <a:pt x="2546828" y="2546828"/>
                </a:lnTo>
                <a:lnTo>
                  <a:pt x="0" y="2546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5741172" y="8494957"/>
            <a:ext cx="2546828" cy="2546828"/>
          </a:xfrm>
          <a:custGeom>
            <a:avLst/>
            <a:gdLst/>
            <a:ahLst/>
            <a:cxnLst/>
            <a:rect l="l" t="t" r="r" b="b"/>
            <a:pathLst>
              <a:path w="2546828" h="2546828">
                <a:moveTo>
                  <a:pt x="0" y="0"/>
                </a:moveTo>
                <a:lnTo>
                  <a:pt x="2546828" y="0"/>
                </a:lnTo>
                <a:lnTo>
                  <a:pt x="2546828" y="2546828"/>
                </a:lnTo>
                <a:lnTo>
                  <a:pt x="0" y="25468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TextBox 8"/>
          <p:cNvSpPr txBox="1"/>
          <p:nvPr/>
        </p:nvSpPr>
        <p:spPr>
          <a:xfrm>
            <a:off x="-1137626" y="1926821"/>
            <a:ext cx="5727332" cy="1809379"/>
          </a:xfrm>
          <a:prstGeom prst="rect">
            <a:avLst/>
          </a:prstGeom>
        </p:spPr>
        <p:txBody>
          <a:bodyPr lIns="0" tIns="0" rIns="0" bIns="0" rtlCol="0" anchor="t">
            <a:spAutoFit/>
          </a:bodyPr>
          <a:lstStyle/>
          <a:p>
            <a:pPr algn="r">
              <a:lnSpc>
                <a:spcPts val="13992"/>
              </a:lnSpc>
            </a:pPr>
            <a:r>
              <a:rPr lang="en-US" sz="12720" i="1">
                <a:solidFill>
                  <a:srgbClr val="000000"/>
                </a:solidFill>
                <a:latin typeface="Canva Sans Italics"/>
                <a:ea typeface="Canva Sans Italics"/>
                <a:cs typeface="Canva Sans Italics"/>
                <a:sym typeface="Canva Sans Italics"/>
              </a:rPr>
              <a:t>SQL</a:t>
            </a:r>
          </a:p>
        </p:txBody>
      </p:sp>
      <p:sp>
        <p:nvSpPr>
          <p:cNvPr id="9" name="TextBox 9"/>
          <p:cNvSpPr txBox="1"/>
          <p:nvPr/>
        </p:nvSpPr>
        <p:spPr>
          <a:xfrm>
            <a:off x="659620" y="994826"/>
            <a:ext cx="6732092" cy="693070"/>
          </a:xfrm>
          <a:prstGeom prst="rect">
            <a:avLst/>
          </a:prstGeom>
        </p:spPr>
        <p:txBody>
          <a:bodyPr lIns="0" tIns="0" rIns="0" bIns="0" rtlCol="0" anchor="t">
            <a:spAutoFit/>
          </a:bodyPr>
          <a:lstStyle/>
          <a:p>
            <a:pPr algn="r">
              <a:lnSpc>
                <a:spcPts val="5377"/>
              </a:lnSpc>
            </a:pPr>
            <a:r>
              <a:rPr lang="en-US" sz="4888">
                <a:solidFill>
                  <a:srgbClr val="000000"/>
                </a:solidFill>
                <a:latin typeface="Playfair Display"/>
                <a:ea typeface="Playfair Display"/>
                <a:cs typeface="Playfair Display"/>
                <a:sym typeface="Playfair Display"/>
              </a:rPr>
              <a:t>Data Preprocessing  by </a:t>
            </a:r>
          </a:p>
        </p:txBody>
      </p:sp>
      <p:sp>
        <p:nvSpPr>
          <p:cNvPr id="10" name="TextBox 10"/>
          <p:cNvSpPr txBox="1"/>
          <p:nvPr/>
        </p:nvSpPr>
        <p:spPr>
          <a:xfrm>
            <a:off x="765112" y="4635150"/>
            <a:ext cx="6521108" cy="2034541"/>
          </a:xfrm>
          <a:prstGeom prst="rect">
            <a:avLst/>
          </a:prstGeom>
        </p:spPr>
        <p:txBody>
          <a:bodyPr lIns="0" tIns="0" rIns="0" bIns="0" rtlCol="0" anchor="t">
            <a:spAutoFit/>
          </a:bodyPr>
          <a:lstStyle/>
          <a:p>
            <a:pPr algn="just">
              <a:lnSpc>
                <a:spcPts val="5459"/>
              </a:lnSpc>
            </a:pPr>
            <a:r>
              <a:rPr lang="en-US" sz="3899">
                <a:solidFill>
                  <a:srgbClr val="000000"/>
                </a:solidFill>
                <a:latin typeface="Garet"/>
                <a:ea typeface="Garet"/>
                <a:cs typeface="Garet"/>
                <a:sym typeface="Garet"/>
              </a:rPr>
              <a:t>SQL was empolyed for Data Preprocessing Step and data preparation.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269682"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3290772" y="3434437"/>
            <a:ext cx="4731716" cy="473171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r="-25046"/>
              </a:stretch>
            </a:blipFill>
          </p:spPr>
          <p:txBody>
            <a:bodyPr/>
            <a:lstStyle/>
            <a:p>
              <a:endParaRPr lang="en-US"/>
            </a:p>
          </p:txBody>
        </p:sp>
      </p:grpSp>
      <p:sp>
        <p:nvSpPr>
          <p:cNvPr id="6" name="TextBox 6"/>
          <p:cNvSpPr txBox="1"/>
          <p:nvPr/>
        </p:nvSpPr>
        <p:spPr>
          <a:xfrm>
            <a:off x="591049" y="564833"/>
            <a:ext cx="9066872"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4.Data Modeling </a:t>
            </a:r>
          </a:p>
        </p:txBody>
      </p:sp>
      <p:sp>
        <p:nvSpPr>
          <p:cNvPr id="7" name="TextBox 7"/>
          <p:cNvSpPr txBox="1"/>
          <p:nvPr/>
        </p:nvSpPr>
        <p:spPr>
          <a:xfrm>
            <a:off x="591049" y="2734076"/>
            <a:ext cx="11755651" cy="6720538"/>
          </a:xfrm>
          <a:prstGeom prst="rect">
            <a:avLst/>
          </a:prstGeom>
        </p:spPr>
        <p:txBody>
          <a:bodyPr lIns="0" tIns="0" rIns="0" bIns="0" rtlCol="0" anchor="t">
            <a:spAutoFit/>
          </a:bodyPr>
          <a:lstStyle/>
          <a:p>
            <a:pPr algn="just">
              <a:lnSpc>
                <a:spcPts val="4426"/>
              </a:lnSpc>
            </a:pPr>
            <a:r>
              <a:rPr lang="en-US" sz="3161">
                <a:solidFill>
                  <a:srgbClr val="000000"/>
                </a:solidFill>
                <a:latin typeface="Garet"/>
                <a:ea typeface="Garet"/>
                <a:cs typeface="Garet"/>
                <a:sym typeface="Garet"/>
              </a:rPr>
              <a:t>Data modeling was carried out to organize both the FAA Wildlife Strike data and the NTSB Aircraft Accident data into structured analytical models. This included defining relationships between incident attributes such as event date, location, aircraft type, phase of flight, and damage level. The modeling process also involved standardizing variable formats across the two datasets, linking common fields (e.g., aircraft category, airport code), and selecting relevant features from more than 300,000 records. This ensured consistent querying, accurate trend analysis, and clear visualization of accident patterns and wildlife-related hazards.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269682"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3290772" y="3434437"/>
            <a:ext cx="4731716" cy="473171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r="-25046"/>
              </a:stretch>
            </a:blipFill>
          </p:spPr>
          <p:txBody>
            <a:bodyPr/>
            <a:lstStyle/>
            <a:p>
              <a:endParaRPr lang="en-US"/>
            </a:p>
          </p:txBody>
        </p:sp>
      </p:grpSp>
      <p:sp>
        <p:nvSpPr>
          <p:cNvPr id="6" name="Freeform 6"/>
          <p:cNvSpPr/>
          <p:nvPr/>
        </p:nvSpPr>
        <p:spPr>
          <a:xfrm>
            <a:off x="591049" y="2581483"/>
            <a:ext cx="11656254" cy="7180017"/>
          </a:xfrm>
          <a:custGeom>
            <a:avLst/>
            <a:gdLst/>
            <a:ahLst/>
            <a:cxnLst/>
            <a:rect l="l" t="t" r="r" b="b"/>
            <a:pathLst>
              <a:path w="11656254" h="7180017">
                <a:moveTo>
                  <a:pt x="0" y="0"/>
                </a:moveTo>
                <a:lnTo>
                  <a:pt x="11656254" y="0"/>
                </a:lnTo>
                <a:lnTo>
                  <a:pt x="11656254" y="7180018"/>
                </a:lnTo>
                <a:lnTo>
                  <a:pt x="0" y="7180018"/>
                </a:lnTo>
                <a:lnTo>
                  <a:pt x="0" y="0"/>
                </a:lnTo>
                <a:close/>
              </a:path>
            </a:pathLst>
          </a:custGeom>
          <a:blipFill>
            <a:blip r:embed="rId5"/>
            <a:stretch>
              <a:fillRect l="-20606" t="-12325" r="-22052"/>
            </a:stretch>
          </a:blipFill>
        </p:spPr>
        <p:txBody>
          <a:bodyPr/>
          <a:lstStyle/>
          <a:p>
            <a:endParaRPr lang="en-US"/>
          </a:p>
        </p:txBody>
      </p:sp>
      <p:sp>
        <p:nvSpPr>
          <p:cNvPr id="7" name="TextBox 7"/>
          <p:cNvSpPr txBox="1"/>
          <p:nvPr/>
        </p:nvSpPr>
        <p:spPr>
          <a:xfrm>
            <a:off x="591049" y="564833"/>
            <a:ext cx="9066872"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4.Data Modeling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85574" y="3434437"/>
            <a:ext cx="3036915" cy="303691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0937" r="-10937"/>
              </a:stretch>
            </a:blipFill>
          </p:spPr>
          <p:txBody>
            <a:bodyPr/>
            <a:lstStyle/>
            <a:p>
              <a:endParaRPr lang="en-US"/>
            </a:p>
          </p:txBody>
        </p:sp>
      </p:grpSp>
      <p:sp>
        <p:nvSpPr>
          <p:cNvPr id="6" name="Freeform 6"/>
          <p:cNvSpPr/>
          <p:nvPr/>
        </p:nvSpPr>
        <p:spPr>
          <a:xfrm>
            <a:off x="395303" y="2746769"/>
            <a:ext cx="14394524" cy="7449166"/>
          </a:xfrm>
          <a:custGeom>
            <a:avLst/>
            <a:gdLst/>
            <a:ahLst/>
            <a:cxnLst/>
            <a:rect l="l" t="t" r="r" b="b"/>
            <a:pathLst>
              <a:path w="14394524" h="7449166">
                <a:moveTo>
                  <a:pt x="0" y="0"/>
                </a:moveTo>
                <a:lnTo>
                  <a:pt x="14394524" y="0"/>
                </a:lnTo>
                <a:lnTo>
                  <a:pt x="14394524" y="7449166"/>
                </a:lnTo>
                <a:lnTo>
                  <a:pt x="0" y="7449166"/>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3304402" cy="1306398"/>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5.Data Analysis by SQL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428431" y="3434437"/>
            <a:ext cx="3594057" cy="3594057"/>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10937" r="-10937"/>
              </a:stretch>
            </a:blipFill>
          </p:spPr>
          <p:txBody>
            <a:bodyPr/>
            <a:lstStyle/>
            <a:p>
              <a:endParaRPr lang="en-US"/>
            </a:p>
          </p:txBody>
        </p:sp>
      </p:grpSp>
      <p:sp>
        <p:nvSpPr>
          <p:cNvPr id="6" name="Freeform 6"/>
          <p:cNvSpPr/>
          <p:nvPr/>
        </p:nvSpPr>
        <p:spPr>
          <a:xfrm>
            <a:off x="201804" y="3010297"/>
            <a:ext cx="14226628" cy="7024397"/>
          </a:xfrm>
          <a:custGeom>
            <a:avLst/>
            <a:gdLst/>
            <a:ahLst/>
            <a:cxnLst/>
            <a:rect l="l" t="t" r="r" b="b"/>
            <a:pathLst>
              <a:path w="14226628" h="7024397">
                <a:moveTo>
                  <a:pt x="0" y="0"/>
                </a:moveTo>
                <a:lnTo>
                  <a:pt x="14226627" y="0"/>
                </a:lnTo>
                <a:lnTo>
                  <a:pt x="14226627" y="7024397"/>
                </a:lnTo>
                <a:lnTo>
                  <a:pt x="0" y="7024397"/>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662917" y="632441"/>
            <a:ext cx="13304402" cy="1306398"/>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5.Data Analysis by SQL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20814" y="4854885"/>
            <a:ext cx="3101674" cy="3311268"/>
            <a:chOff x="0" y="0"/>
            <a:chExt cx="761352" cy="812800"/>
          </a:xfrm>
        </p:grpSpPr>
        <p:sp>
          <p:nvSpPr>
            <p:cNvPr id="5" name="Freeform 5"/>
            <p:cNvSpPr/>
            <p:nvPr/>
          </p:nvSpPr>
          <p:spPr>
            <a:xfrm>
              <a:off x="0" y="0"/>
              <a:ext cx="761352" cy="812800"/>
            </a:xfrm>
            <a:custGeom>
              <a:avLst/>
              <a:gdLst/>
              <a:ahLst/>
              <a:cxnLst/>
              <a:rect l="l" t="t" r="r" b="b"/>
              <a:pathLst>
                <a:path w="761352" h="812800">
                  <a:moveTo>
                    <a:pt x="380676" y="0"/>
                  </a:moveTo>
                  <a:cubicBezTo>
                    <a:pt x="170434" y="0"/>
                    <a:pt x="0" y="181951"/>
                    <a:pt x="0" y="406400"/>
                  </a:cubicBezTo>
                  <a:cubicBezTo>
                    <a:pt x="0" y="630849"/>
                    <a:pt x="170434" y="812800"/>
                    <a:pt x="380676" y="812800"/>
                  </a:cubicBezTo>
                  <a:cubicBezTo>
                    <a:pt x="590918" y="812800"/>
                    <a:pt x="761352" y="630849"/>
                    <a:pt x="761352" y="406400"/>
                  </a:cubicBezTo>
                  <a:cubicBezTo>
                    <a:pt x="761352" y="181951"/>
                    <a:pt x="590918" y="0"/>
                    <a:pt x="380676" y="0"/>
                  </a:cubicBezTo>
                  <a:close/>
                </a:path>
              </a:pathLst>
            </a:custGeom>
            <a:blipFill>
              <a:blip r:embed="rId4"/>
              <a:stretch>
                <a:fillRect l="-3378" r="-3378"/>
              </a:stretch>
            </a:blipFill>
          </p:spPr>
          <p:txBody>
            <a:bodyPr/>
            <a:lstStyle/>
            <a:p>
              <a:endParaRPr lang="en-US"/>
            </a:p>
          </p:txBody>
        </p:sp>
      </p:grpSp>
      <p:sp>
        <p:nvSpPr>
          <p:cNvPr id="6" name="Freeform 6"/>
          <p:cNvSpPr/>
          <p:nvPr/>
        </p:nvSpPr>
        <p:spPr>
          <a:xfrm>
            <a:off x="1028700" y="2795109"/>
            <a:ext cx="12167841" cy="6646683"/>
          </a:xfrm>
          <a:custGeom>
            <a:avLst/>
            <a:gdLst/>
            <a:ahLst/>
            <a:cxnLst/>
            <a:rect l="l" t="t" r="r" b="b"/>
            <a:pathLst>
              <a:path w="12167841" h="6646683">
                <a:moveTo>
                  <a:pt x="0" y="0"/>
                </a:moveTo>
                <a:lnTo>
                  <a:pt x="12167841" y="0"/>
                </a:lnTo>
                <a:lnTo>
                  <a:pt x="12167841" y="6646684"/>
                </a:lnTo>
                <a:lnTo>
                  <a:pt x="0" y="6646684"/>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4329765"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6.Data Analysis by Tableau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20814" y="4854885"/>
            <a:ext cx="3101674" cy="3311268"/>
            <a:chOff x="0" y="0"/>
            <a:chExt cx="761352" cy="812800"/>
          </a:xfrm>
        </p:grpSpPr>
        <p:sp>
          <p:nvSpPr>
            <p:cNvPr id="5" name="Freeform 5"/>
            <p:cNvSpPr/>
            <p:nvPr/>
          </p:nvSpPr>
          <p:spPr>
            <a:xfrm>
              <a:off x="0" y="0"/>
              <a:ext cx="761352" cy="812800"/>
            </a:xfrm>
            <a:custGeom>
              <a:avLst/>
              <a:gdLst/>
              <a:ahLst/>
              <a:cxnLst/>
              <a:rect l="l" t="t" r="r" b="b"/>
              <a:pathLst>
                <a:path w="761352" h="812800">
                  <a:moveTo>
                    <a:pt x="380676" y="0"/>
                  </a:moveTo>
                  <a:cubicBezTo>
                    <a:pt x="170434" y="0"/>
                    <a:pt x="0" y="181951"/>
                    <a:pt x="0" y="406400"/>
                  </a:cubicBezTo>
                  <a:cubicBezTo>
                    <a:pt x="0" y="630849"/>
                    <a:pt x="170434" y="812800"/>
                    <a:pt x="380676" y="812800"/>
                  </a:cubicBezTo>
                  <a:cubicBezTo>
                    <a:pt x="590918" y="812800"/>
                    <a:pt x="761352" y="630849"/>
                    <a:pt x="761352" y="406400"/>
                  </a:cubicBezTo>
                  <a:cubicBezTo>
                    <a:pt x="761352" y="181951"/>
                    <a:pt x="590918" y="0"/>
                    <a:pt x="380676" y="0"/>
                  </a:cubicBezTo>
                  <a:close/>
                </a:path>
              </a:pathLst>
            </a:custGeom>
            <a:blipFill>
              <a:blip r:embed="rId4"/>
              <a:stretch>
                <a:fillRect l="-3378" r="-3378"/>
              </a:stretch>
            </a:blipFill>
          </p:spPr>
          <p:txBody>
            <a:bodyPr/>
            <a:lstStyle/>
            <a:p>
              <a:endParaRPr lang="en-US"/>
            </a:p>
          </p:txBody>
        </p:sp>
      </p:grpSp>
      <p:sp>
        <p:nvSpPr>
          <p:cNvPr id="6" name="Freeform 6"/>
          <p:cNvSpPr/>
          <p:nvPr/>
        </p:nvSpPr>
        <p:spPr>
          <a:xfrm>
            <a:off x="1801053" y="2549945"/>
            <a:ext cx="10750641" cy="7485133"/>
          </a:xfrm>
          <a:custGeom>
            <a:avLst/>
            <a:gdLst/>
            <a:ahLst/>
            <a:cxnLst/>
            <a:rect l="l" t="t" r="r" b="b"/>
            <a:pathLst>
              <a:path w="10750641" h="7485133">
                <a:moveTo>
                  <a:pt x="0" y="0"/>
                </a:moveTo>
                <a:lnTo>
                  <a:pt x="10750641" y="0"/>
                </a:lnTo>
                <a:lnTo>
                  <a:pt x="10750641" y="7485133"/>
                </a:lnTo>
                <a:lnTo>
                  <a:pt x="0" y="7485133"/>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4329765"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6.Data Analysis by Tableau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20814" y="4854885"/>
            <a:ext cx="3101674" cy="3311268"/>
            <a:chOff x="0" y="0"/>
            <a:chExt cx="761352" cy="812800"/>
          </a:xfrm>
        </p:grpSpPr>
        <p:sp>
          <p:nvSpPr>
            <p:cNvPr id="5" name="Freeform 5"/>
            <p:cNvSpPr/>
            <p:nvPr/>
          </p:nvSpPr>
          <p:spPr>
            <a:xfrm>
              <a:off x="0" y="0"/>
              <a:ext cx="761352" cy="812800"/>
            </a:xfrm>
            <a:custGeom>
              <a:avLst/>
              <a:gdLst/>
              <a:ahLst/>
              <a:cxnLst/>
              <a:rect l="l" t="t" r="r" b="b"/>
              <a:pathLst>
                <a:path w="761352" h="812800">
                  <a:moveTo>
                    <a:pt x="380676" y="0"/>
                  </a:moveTo>
                  <a:cubicBezTo>
                    <a:pt x="170434" y="0"/>
                    <a:pt x="0" y="181951"/>
                    <a:pt x="0" y="406400"/>
                  </a:cubicBezTo>
                  <a:cubicBezTo>
                    <a:pt x="0" y="630849"/>
                    <a:pt x="170434" y="812800"/>
                    <a:pt x="380676" y="812800"/>
                  </a:cubicBezTo>
                  <a:cubicBezTo>
                    <a:pt x="590918" y="812800"/>
                    <a:pt x="761352" y="630849"/>
                    <a:pt x="761352" y="406400"/>
                  </a:cubicBezTo>
                  <a:cubicBezTo>
                    <a:pt x="761352" y="181951"/>
                    <a:pt x="590918" y="0"/>
                    <a:pt x="380676" y="0"/>
                  </a:cubicBezTo>
                  <a:close/>
                </a:path>
              </a:pathLst>
            </a:custGeom>
            <a:blipFill>
              <a:blip r:embed="rId4"/>
              <a:stretch>
                <a:fillRect l="-3378" r="-3378"/>
              </a:stretch>
            </a:blipFill>
          </p:spPr>
          <p:txBody>
            <a:bodyPr/>
            <a:lstStyle/>
            <a:p>
              <a:endParaRPr lang="en-US"/>
            </a:p>
          </p:txBody>
        </p:sp>
      </p:grpSp>
      <p:sp>
        <p:nvSpPr>
          <p:cNvPr id="6" name="Freeform 6"/>
          <p:cNvSpPr/>
          <p:nvPr/>
        </p:nvSpPr>
        <p:spPr>
          <a:xfrm>
            <a:off x="1028700" y="2791226"/>
            <a:ext cx="12953323" cy="7222991"/>
          </a:xfrm>
          <a:custGeom>
            <a:avLst/>
            <a:gdLst/>
            <a:ahLst/>
            <a:cxnLst/>
            <a:rect l="l" t="t" r="r" b="b"/>
            <a:pathLst>
              <a:path w="12953323" h="7222991">
                <a:moveTo>
                  <a:pt x="0" y="0"/>
                </a:moveTo>
                <a:lnTo>
                  <a:pt x="12953323" y="0"/>
                </a:lnTo>
                <a:lnTo>
                  <a:pt x="12953323" y="7222992"/>
                </a:lnTo>
                <a:lnTo>
                  <a:pt x="0" y="7222992"/>
                </a:lnTo>
                <a:lnTo>
                  <a:pt x="0" y="0"/>
                </a:lnTo>
                <a:close/>
              </a:path>
            </a:pathLst>
          </a:custGeom>
          <a:blipFill>
            <a:blip r:embed="rId5"/>
            <a:stretch>
              <a:fillRect r="-499" b="-9490"/>
            </a:stretch>
          </a:blipFill>
        </p:spPr>
        <p:txBody>
          <a:bodyPr/>
          <a:lstStyle/>
          <a:p>
            <a:endParaRPr lang="en-US"/>
          </a:p>
        </p:txBody>
      </p:sp>
      <p:sp>
        <p:nvSpPr>
          <p:cNvPr id="7" name="TextBox 7"/>
          <p:cNvSpPr txBox="1"/>
          <p:nvPr/>
        </p:nvSpPr>
        <p:spPr>
          <a:xfrm>
            <a:off x="591049" y="564833"/>
            <a:ext cx="14329765"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6.Data Analysis by Tableau</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20814" y="4854885"/>
            <a:ext cx="3101674" cy="3311268"/>
            <a:chOff x="0" y="0"/>
            <a:chExt cx="761352" cy="812800"/>
          </a:xfrm>
        </p:grpSpPr>
        <p:sp>
          <p:nvSpPr>
            <p:cNvPr id="5" name="Freeform 5"/>
            <p:cNvSpPr/>
            <p:nvPr/>
          </p:nvSpPr>
          <p:spPr>
            <a:xfrm>
              <a:off x="0" y="0"/>
              <a:ext cx="761352" cy="812800"/>
            </a:xfrm>
            <a:custGeom>
              <a:avLst/>
              <a:gdLst/>
              <a:ahLst/>
              <a:cxnLst/>
              <a:rect l="l" t="t" r="r" b="b"/>
              <a:pathLst>
                <a:path w="761352" h="812800">
                  <a:moveTo>
                    <a:pt x="380676" y="0"/>
                  </a:moveTo>
                  <a:cubicBezTo>
                    <a:pt x="170434" y="0"/>
                    <a:pt x="0" y="181951"/>
                    <a:pt x="0" y="406400"/>
                  </a:cubicBezTo>
                  <a:cubicBezTo>
                    <a:pt x="0" y="630849"/>
                    <a:pt x="170434" y="812800"/>
                    <a:pt x="380676" y="812800"/>
                  </a:cubicBezTo>
                  <a:cubicBezTo>
                    <a:pt x="590918" y="812800"/>
                    <a:pt x="761352" y="630849"/>
                    <a:pt x="761352" y="406400"/>
                  </a:cubicBezTo>
                  <a:cubicBezTo>
                    <a:pt x="761352" y="181951"/>
                    <a:pt x="590918" y="0"/>
                    <a:pt x="380676" y="0"/>
                  </a:cubicBezTo>
                  <a:close/>
                </a:path>
              </a:pathLst>
            </a:custGeom>
            <a:blipFill>
              <a:blip r:embed="rId4"/>
              <a:stretch>
                <a:fillRect l="-3378" r="-3378"/>
              </a:stretch>
            </a:blipFill>
          </p:spPr>
          <p:txBody>
            <a:bodyPr/>
            <a:lstStyle/>
            <a:p>
              <a:endParaRPr lang="en-US"/>
            </a:p>
          </p:txBody>
        </p:sp>
      </p:grpSp>
      <p:sp>
        <p:nvSpPr>
          <p:cNvPr id="6" name="Freeform 6"/>
          <p:cNvSpPr/>
          <p:nvPr/>
        </p:nvSpPr>
        <p:spPr>
          <a:xfrm>
            <a:off x="1244579" y="2619320"/>
            <a:ext cx="11220620" cy="7770279"/>
          </a:xfrm>
          <a:custGeom>
            <a:avLst/>
            <a:gdLst/>
            <a:ahLst/>
            <a:cxnLst/>
            <a:rect l="l" t="t" r="r" b="b"/>
            <a:pathLst>
              <a:path w="11220620" h="7770279">
                <a:moveTo>
                  <a:pt x="0" y="0"/>
                </a:moveTo>
                <a:lnTo>
                  <a:pt x="11220620" y="0"/>
                </a:lnTo>
                <a:lnTo>
                  <a:pt x="11220620" y="7770279"/>
                </a:lnTo>
                <a:lnTo>
                  <a:pt x="0" y="7770279"/>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4329765"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6.Data Analysis by Tableau</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20814" y="4854885"/>
            <a:ext cx="3101674" cy="3311268"/>
            <a:chOff x="0" y="0"/>
            <a:chExt cx="761352" cy="812800"/>
          </a:xfrm>
        </p:grpSpPr>
        <p:sp>
          <p:nvSpPr>
            <p:cNvPr id="5" name="Freeform 5"/>
            <p:cNvSpPr/>
            <p:nvPr/>
          </p:nvSpPr>
          <p:spPr>
            <a:xfrm>
              <a:off x="0" y="0"/>
              <a:ext cx="761352" cy="812800"/>
            </a:xfrm>
            <a:custGeom>
              <a:avLst/>
              <a:gdLst/>
              <a:ahLst/>
              <a:cxnLst/>
              <a:rect l="l" t="t" r="r" b="b"/>
              <a:pathLst>
                <a:path w="761352" h="812800">
                  <a:moveTo>
                    <a:pt x="380676" y="0"/>
                  </a:moveTo>
                  <a:cubicBezTo>
                    <a:pt x="170434" y="0"/>
                    <a:pt x="0" y="181951"/>
                    <a:pt x="0" y="406400"/>
                  </a:cubicBezTo>
                  <a:cubicBezTo>
                    <a:pt x="0" y="630849"/>
                    <a:pt x="170434" y="812800"/>
                    <a:pt x="380676" y="812800"/>
                  </a:cubicBezTo>
                  <a:cubicBezTo>
                    <a:pt x="590918" y="812800"/>
                    <a:pt x="761352" y="630849"/>
                    <a:pt x="761352" y="406400"/>
                  </a:cubicBezTo>
                  <a:cubicBezTo>
                    <a:pt x="761352" y="181951"/>
                    <a:pt x="590918" y="0"/>
                    <a:pt x="380676" y="0"/>
                  </a:cubicBezTo>
                  <a:close/>
                </a:path>
              </a:pathLst>
            </a:custGeom>
            <a:blipFill>
              <a:blip r:embed="rId4"/>
              <a:stretch>
                <a:fillRect l="-3378" r="-3378"/>
              </a:stretch>
            </a:blipFill>
          </p:spPr>
          <p:txBody>
            <a:bodyPr/>
            <a:lstStyle/>
            <a:p>
              <a:endParaRPr lang="en-US"/>
            </a:p>
          </p:txBody>
        </p:sp>
      </p:grpSp>
      <p:sp>
        <p:nvSpPr>
          <p:cNvPr id="6" name="Freeform 6"/>
          <p:cNvSpPr/>
          <p:nvPr/>
        </p:nvSpPr>
        <p:spPr>
          <a:xfrm>
            <a:off x="1461855" y="2596000"/>
            <a:ext cx="11712708" cy="7540056"/>
          </a:xfrm>
          <a:custGeom>
            <a:avLst/>
            <a:gdLst/>
            <a:ahLst/>
            <a:cxnLst/>
            <a:rect l="l" t="t" r="r" b="b"/>
            <a:pathLst>
              <a:path w="11712708" h="7540056">
                <a:moveTo>
                  <a:pt x="0" y="0"/>
                </a:moveTo>
                <a:lnTo>
                  <a:pt x="11712708" y="0"/>
                </a:lnTo>
                <a:lnTo>
                  <a:pt x="11712708" y="7540056"/>
                </a:lnTo>
                <a:lnTo>
                  <a:pt x="0" y="7540056"/>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4329765"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6.Data Analysis by Tableau</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20814" y="4854885"/>
            <a:ext cx="3101674" cy="3311268"/>
            <a:chOff x="0" y="0"/>
            <a:chExt cx="761352" cy="812800"/>
          </a:xfrm>
        </p:grpSpPr>
        <p:sp>
          <p:nvSpPr>
            <p:cNvPr id="5" name="Freeform 5"/>
            <p:cNvSpPr/>
            <p:nvPr/>
          </p:nvSpPr>
          <p:spPr>
            <a:xfrm>
              <a:off x="0" y="0"/>
              <a:ext cx="761352" cy="812800"/>
            </a:xfrm>
            <a:custGeom>
              <a:avLst/>
              <a:gdLst/>
              <a:ahLst/>
              <a:cxnLst/>
              <a:rect l="l" t="t" r="r" b="b"/>
              <a:pathLst>
                <a:path w="761352" h="812800">
                  <a:moveTo>
                    <a:pt x="380676" y="0"/>
                  </a:moveTo>
                  <a:cubicBezTo>
                    <a:pt x="170434" y="0"/>
                    <a:pt x="0" y="181951"/>
                    <a:pt x="0" y="406400"/>
                  </a:cubicBezTo>
                  <a:cubicBezTo>
                    <a:pt x="0" y="630849"/>
                    <a:pt x="170434" y="812800"/>
                    <a:pt x="380676" y="812800"/>
                  </a:cubicBezTo>
                  <a:cubicBezTo>
                    <a:pt x="590918" y="812800"/>
                    <a:pt x="761352" y="630849"/>
                    <a:pt x="761352" y="406400"/>
                  </a:cubicBezTo>
                  <a:cubicBezTo>
                    <a:pt x="761352" y="181951"/>
                    <a:pt x="590918" y="0"/>
                    <a:pt x="380676" y="0"/>
                  </a:cubicBezTo>
                  <a:close/>
                </a:path>
              </a:pathLst>
            </a:custGeom>
            <a:blipFill>
              <a:blip r:embed="rId4"/>
              <a:stretch>
                <a:fillRect l="-3378" r="-3378"/>
              </a:stretch>
            </a:blipFill>
          </p:spPr>
          <p:txBody>
            <a:bodyPr/>
            <a:lstStyle/>
            <a:p>
              <a:endParaRPr lang="en-US"/>
            </a:p>
          </p:txBody>
        </p:sp>
      </p:grpSp>
      <p:sp>
        <p:nvSpPr>
          <p:cNvPr id="6" name="Freeform 6"/>
          <p:cNvSpPr/>
          <p:nvPr/>
        </p:nvSpPr>
        <p:spPr>
          <a:xfrm>
            <a:off x="591049" y="2516403"/>
            <a:ext cx="12999228" cy="7425809"/>
          </a:xfrm>
          <a:custGeom>
            <a:avLst/>
            <a:gdLst/>
            <a:ahLst/>
            <a:cxnLst/>
            <a:rect l="l" t="t" r="r" b="b"/>
            <a:pathLst>
              <a:path w="12999228" h="7425809">
                <a:moveTo>
                  <a:pt x="0" y="0"/>
                </a:moveTo>
                <a:lnTo>
                  <a:pt x="12999228" y="0"/>
                </a:lnTo>
                <a:lnTo>
                  <a:pt x="12999228" y="7425809"/>
                </a:lnTo>
                <a:lnTo>
                  <a:pt x="0" y="7425809"/>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4329765"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6.Data Analysis by Tableau</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20814" y="4854885"/>
            <a:ext cx="3101674" cy="3311268"/>
            <a:chOff x="0" y="0"/>
            <a:chExt cx="761352" cy="812800"/>
          </a:xfrm>
        </p:grpSpPr>
        <p:sp>
          <p:nvSpPr>
            <p:cNvPr id="5" name="Freeform 5"/>
            <p:cNvSpPr/>
            <p:nvPr/>
          </p:nvSpPr>
          <p:spPr>
            <a:xfrm>
              <a:off x="0" y="0"/>
              <a:ext cx="761352" cy="812800"/>
            </a:xfrm>
            <a:custGeom>
              <a:avLst/>
              <a:gdLst/>
              <a:ahLst/>
              <a:cxnLst/>
              <a:rect l="l" t="t" r="r" b="b"/>
              <a:pathLst>
                <a:path w="761352" h="812800">
                  <a:moveTo>
                    <a:pt x="380676" y="0"/>
                  </a:moveTo>
                  <a:cubicBezTo>
                    <a:pt x="170434" y="0"/>
                    <a:pt x="0" y="181951"/>
                    <a:pt x="0" y="406400"/>
                  </a:cubicBezTo>
                  <a:cubicBezTo>
                    <a:pt x="0" y="630849"/>
                    <a:pt x="170434" y="812800"/>
                    <a:pt x="380676" y="812800"/>
                  </a:cubicBezTo>
                  <a:cubicBezTo>
                    <a:pt x="590918" y="812800"/>
                    <a:pt x="761352" y="630849"/>
                    <a:pt x="761352" y="406400"/>
                  </a:cubicBezTo>
                  <a:cubicBezTo>
                    <a:pt x="761352" y="181951"/>
                    <a:pt x="590918" y="0"/>
                    <a:pt x="380676" y="0"/>
                  </a:cubicBezTo>
                  <a:close/>
                </a:path>
              </a:pathLst>
            </a:custGeom>
            <a:blipFill>
              <a:blip r:embed="rId4"/>
              <a:stretch>
                <a:fillRect t="-2664" b="-2664"/>
              </a:stretch>
            </a:blipFill>
          </p:spPr>
          <p:txBody>
            <a:bodyPr/>
            <a:lstStyle/>
            <a:p>
              <a:endParaRPr lang="en-US"/>
            </a:p>
          </p:txBody>
        </p:sp>
      </p:grpSp>
      <p:sp>
        <p:nvSpPr>
          <p:cNvPr id="6" name="Freeform 6"/>
          <p:cNvSpPr/>
          <p:nvPr/>
        </p:nvSpPr>
        <p:spPr>
          <a:xfrm>
            <a:off x="305984" y="2509570"/>
            <a:ext cx="13284292" cy="7472415"/>
          </a:xfrm>
          <a:custGeom>
            <a:avLst/>
            <a:gdLst/>
            <a:ahLst/>
            <a:cxnLst/>
            <a:rect l="l" t="t" r="r" b="b"/>
            <a:pathLst>
              <a:path w="13284292" h="7472415">
                <a:moveTo>
                  <a:pt x="0" y="0"/>
                </a:moveTo>
                <a:lnTo>
                  <a:pt x="13284293" y="0"/>
                </a:lnTo>
                <a:lnTo>
                  <a:pt x="13284293" y="7472414"/>
                </a:lnTo>
                <a:lnTo>
                  <a:pt x="0" y="7472414"/>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3825726" cy="1306398"/>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7.Data Analysis by Python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20814" y="4854885"/>
            <a:ext cx="3101674" cy="3311268"/>
            <a:chOff x="0" y="0"/>
            <a:chExt cx="761352" cy="812800"/>
          </a:xfrm>
        </p:grpSpPr>
        <p:sp>
          <p:nvSpPr>
            <p:cNvPr id="5" name="Freeform 5"/>
            <p:cNvSpPr/>
            <p:nvPr/>
          </p:nvSpPr>
          <p:spPr>
            <a:xfrm>
              <a:off x="0" y="0"/>
              <a:ext cx="761352" cy="812800"/>
            </a:xfrm>
            <a:custGeom>
              <a:avLst/>
              <a:gdLst/>
              <a:ahLst/>
              <a:cxnLst/>
              <a:rect l="l" t="t" r="r" b="b"/>
              <a:pathLst>
                <a:path w="761352" h="812800">
                  <a:moveTo>
                    <a:pt x="380676" y="0"/>
                  </a:moveTo>
                  <a:cubicBezTo>
                    <a:pt x="170434" y="0"/>
                    <a:pt x="0" y="181951"/>
                    <a:pt x="0" y="406400"/>
                  </a:cubicBezTo>
                  <a:cubicBezTo>
                    <a:pt x="0" y="630849"/>
                    <a:pt x="170434" y="812800"/>
                    <a:pt x="380676" y="812800"/>
                  </a:cubicBezTo>
                  <a:cubicBezTo>
                    <a:pt x="590918" y="812800"/>
                    <a:pt x="761352" y="630849"/>
                    <a:pt x="761352" y="406400"/>
                  </a:cubicBezTo>
                  <a:cubicBezTo>
                    <a:pt x="761352" y="181951"/>
                    <a:pt x="590918" y="0"/>
                    <a:pt x="380676" y="0"/>
                  </a:cubicBezTo>
                  <a:close/>
                </a:path>
              </a:pathLst>
            </a:custGeom>
            <a:blipFill>
              <a:blip r:embed="rId4"/>
              <a:stretch>
                <a:fillRect t="-2664" b="-2664"/>
              </a:stretch>
            </a:blipFill>
          </p:spPr>
          <p:txBody>
            <a:bodyPr/>
            <a:lstStyle/>
            <a:p>
              <a:endParaRPr lang="en-US"/>
            </a:p>
          </p:txBody>
        </p:sp>
      </p:grpSp>
      <p:sp>
        <p:nvSpPr>
          <p:cNvPr id="6" name="Freeform 6"/>
          <p:cNvSpPr/>
          <p:nvPr/>
        </p:nvSpPr>
        <p:spPr>
          <a:xfrm>
            <a:off x="591049" y="2568777"/>
            <a:ext cx="13304402" cy="7483726"/>
          </a:xfrm>
          <a:custGeom>
            <a:avLst/>
            <a:gdLst/>
            <a:ahLst/>
            <a:cxnLst/>
            <a:rect l="l" t="t" r="r" b="b"/>
            <a:pathLst>
              <a:path w="13304402" h="7483726">
                <a:moveTo>
                  <a:pt x="0" y="0"/>
                </a:moveTo>
                <a:lnTo>
                  <a:pt x="13304402" y="0"/>
                </a:lnTo>
                <a:lnTo>
                  <a:pt x="13304402" y="7483725"/>
                </a:lnTo>
                <a:lnTo>
                  <a:pt x="0" y="7483725"/>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05324" y="564833"/>
            <a:ext cx="13912614"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7.Data Analysis by Python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99835" y="5143500"/>
            <a:ext cx="3022653" cy="302265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US"/>
            </a:p>
          </p:txBody>
        </p:sp>
      </p:grpSp>
      <p:sp>
        <p:nvSpPr>
          <p:cNvPr id="6" name="Freeform 6"/>
          <p:cNvSpPr/>
          <p:nvPr/>
        </p:nvSpPr>
        <p:spPr>
          <a:xfrm>
            <a:off x="354420" y="2978047"/>
            <a:ext cx="14279156" cy="5497475"/>
          </a:xfrm>
          <a:custGeom>
            <a:avLst/>
            <a:gdLst/>
            <a:ahLst/>
            <a:cxnLst/>
            <a:rect l="l" t="t" r="r" b="b"/>
            <a:pathLst>
              <a:path w="14279156" h="5497475">
                <a:moveTo>
                  <a:pt x="0" y="0"/>
                </a:moveTo>
                <a:lnTo>
                  <a:pt x="14279156" y="0"/>
                </a:lnTo>
                <a:lnTo>
                  <a:pt x="14279156" y="5497475"/>
                </a:lnTo>
                <a:lnTo>
                  <a:pt x="0" y="5497475"/>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3304402"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8.Data Analysis by Excel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826629" y="4425926"/>
            <a:ext cx="3461371" cy="346137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US"/>
            </a:p>
          </p:txBody>
        </p:sp>
      </p:grpSp>
      <p:sp>
        <p:nvSpPr>
          <p:cNvPr id="6" name="Freeform 6"/>
          <p:cNvSpPr/>
          <p:nvPr/>
        </p:nvSpPr>
        <p:spPr>
          <a:xfrm>
            <a:off x="381580" y="3602528"/>
            <a:ext cx="14580266" cy="6081406"/>
          </a:xfrm>
          <a:custGeom>
            <a:avLst/>
            <a:gdLst/>
            <a:ahLst/>
            <a:cxnLst/>
            <a:rect l="l" t="t" r="r" b="b"/>
            <a:pathLst>
              <a:path w="14580266" h="6081406">
                <a:moveTo>
                  <a:pt x="0" y="0"/>
                </a:moveTo>
                <a:lnTo>
                  <a:pt x="14580266" y="0"/>
                </a:lnTo>
                <a:lnTo>
                  <a:pt x="14580266" y="6081406"/>
                </a:lnTo>
                <a:lnTo>
                  <a:pt x="0" y="6081406"/>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3304402"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8.Data Analysis by Excel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5120977" y="4209038"/>
            <a:ext cx="2857183" cy="285718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US"/>
            </a:p>
          </p:txBody>
        </p:sp>
      </p:grpSp>
      <p:sp>
        <p:nvSpPr>
          <p:cNvPr id="6" name="Freeform 6"/>
          <p:cNvSpPr/>
          <p:nvPr/>
        </p:nvSpPr>
        <p:spPr>
          <a:xfrm>
            <a:off x="419591" y="3574175"/>
            <a:ext cx="14465350" cy="6243757"/>
          </a:xfrm>
          <a:custGeom>
            <a:avLst/>
            <a:gdLst/>
            <a:ahLst/>
            <a:cxnLst/>
            <a:rect l="l" t="t" r="r" b="b"/>
            <a:pathLst>
              <a:path w="14465350" h="6243757">
                <a:moveTo>
                  <a:pt x="0" y="0"/>
                </a:moveTo>
                <a:lnTo>
                  <a:pt x="14465350" y="0"/>
                </a:lnTo>
                <a:lnTo>
                  <a:pt x="14465350" y="6243757"/>
                </a:lnTo>
                <a:lnTo>
                  <a:pt x="0" y="6243757"/>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3304402"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8.Data Analysis by Excel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99835" y="3842171"/>
            <a:ext cx="3022653" cy="3022653"/>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US"/>
            </a:p>
          </p:txBody>
        </p:sp>
      </p:grpSp>
      <p:sp>
        <p:nvSpPr>
          <p:cNvPr id="6" name="Freeform 6"/>
          <p:cNvSpPr/>
          <p:nvPr/>
        </p:nvSpPr>
        <p:spPr>
          <a:xfrm>
            <a:off x="200531" y="2995896"/>
            <a:ext cx="14697891" cy="6492564"/>
          </a:xfrm>
          <a:custGeom>
            <a:avLst/>
            <a:gdLst/>
            <a:ahLst/>
            <a:cxnLst/>
            <a:rect l="l" t="t" r="r" b="b"/>
            <a:pathLst>
              <a:path w="14697891" h="6492564">
                <a:moveTo>
                  <a:pt x="0" y="0"/>
                </a:moveTo>
                <a:lnTo>
                  <a:pt x="14697892" y="0"/>
                </a:lnTo>
                <a:lnTo>
                  <a:pt x="14697892" y="6492564"/>
                </a:lnTo>
                <a:lnTo>
                  <a:pt x="0" y="6492564"/>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3304402"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8.Data Analysis by Excel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895451" y="-453918"/>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5523769" y="4142103"/>
            <a:ext cx="2764231" cy="276423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US"/>
            </a:p>
          </p:txBody>
        </p:sp>
      </p:grpSp>
      <p:sp>
        <p:nvSpPr>
          <p:cNvPr id="6" name="Freeform 6"/>
          <p:cNvSpPr/>
          <p:nvPr/>
        </p:nvSpPr>
        <p:spPr>
          <a:xfrm>
            <a:off x="277286" y="3226208"/>
            <a:ext cx="14440300" cy="6107163"/>
          </a:xfrm>
          <a:custGeom>
            <a:avLst/>
            <a:gdLst/>
            <a:ahLst/>
            <a:cxnLst/>
            <a:rect l="l" t="t" r="r" b="b"/>
            <a:pathLst>
              <a:path w="14440300" h="6107163">
                <a:moveTo>
                  <a:pt x="0" y="0"/>
                </a:moveTo>
                <a:lnTo>
                  <a:pt x="14440301" y="0"/>
                </a:lnTo>
                <a:lnTo>
                  <a:pt x="14440301" y="6107162"/>
                </a:lnTo>
                <a:lnTo>
                  <a:pt x="0" y="6107162"/>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3304402"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8.Data Analysis by Excel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5105485" y="3552243"/>
            <a:ext cx="3182515" cy="318251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a:stretch>
            </a:blipFill>
          </p:spPr>
          <p:txBody>
            <a:bodyPr/>
            <a:lstStyle/>
            <a:p>
              <a:endParaRPr lang="en-US"/>
            </a:p>
          </p:txBody>
        </p:sp>
      </p:grpSp>
      <p:sp>
        <p:nvSpPr>
          <p:cNvPr id="6" name="Freeform 6"/>
          <p:cNvSpPr/>
          <p:nvPr/>
        </p:nvSpPr>
        <p:spPr>
          <a:xfrm>
            <a:off x="327159" y="3011375"/>
            <a:ext cx="14541760" cy="6348381"/>
          </a:xfrm>
          <a:custGeom>
            <a:avLst/>
            <a:gdLst/>
            <a:ahLst/>
            <a:cxnLst/>
            <a:rect l="l" t="t" r="r" b="b"/>
            <a:pathLst>
              <a:path w="14541760" h="6348381">
                <a:moveTo>
                  <a:pt x="0" y="0"/>
                </a:moveTo>
                <a:lnTo>
                  <a:pt x="14541760" y="0"/>
                </a:lnTo>
                <a:lnTo>
                  <a:pt x="14541760" y="6348381"/>
                </a:lnTo>
                <a:lnTo>
                  <a:pt x="0" y="6348381"/>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3304402"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8.Data Analysis by Excel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20814" y="4854885"/>
            <a:ext cx="3101674" cy="3311268"/>
            <a:chOff x="0" y="0"/>
            <a:chExt cx="761352" cy="812800"/>
          </a:xfrm>
        </p:grpSpPr>
        <p:sp>
          <p:nvSpPr>
            <p:cNvPr id="5" name="Freeform 5"/>
            <p:cNvSpPr/>
            <p:nvPr/>
          </p:nvSpPr>
          <p:spPr>
            <a:xfrm>
              <a:off x="0" y="0"/>
              <a:ext cx="761352" cy="812800"/>
            </a:xfrm>
            <a:custGeom>
              <a:avLst/>
              <a:gdLst/>
              <a:ahLst/>
              <a:cxnLst/>
              <a:rect l="l" t="t" r="r" b="b"/>
              <a:pathLst>
                <a:path w="761352" h="812800">
                  <a:moveTo>
                    <a:pt x="380676" y="0"/>
                  </a:moveTo>
                  <a:cubicBezTo>
                    <a:pt x="170434" y="0"/>
                    <a:pt x="0" y="181951"/>
                    <a:pt x="0" y="406400"/>
                  </a:cubicBezTo>
                  <a:cubicBezTo>
                    <a:pt x="0" y="630849"/>
                    <a:pt x="170434" y="812800"/>
                    <a:pt x="380676" y="812800"/>
                  </a:cubicBezTo>
                  <a:cubicBezTo>
                    <a:pt x="590918" y="812800"/>
                    <a:pt x="761352" y="630849"/>
                    <a:pt x="761352" y="406400"/>
                  </a:cubicBezTo>
                  <a:cubicBezTo>
                    <a:pt x="761352" y="181951"/>
                    <a:pt x="590918" y="0"/>
                    <a:pt x="380676" y="0"/>
                  </a:cubicBezTo>
                  <a:close/>
                </a:path>
              </a:pathLst>
            </a:custGeom>
            <a:blipFill>
              <a:blip r:embed="rId4"/>
              <a:stretch>
                <a:fillRect l="-3378" r="-3378"/>
              </a:stretch>
            </a:blipFill>
          </p:spPr>
          <p:txBody>
            <a:bodyPr/>
            <a:lstStyle/>
            <a:p>
              <a:endParaRPr lang="en-US"/>
            </a:p>
          </p:txBody>
        </p:sp>
      </p:grpSp>
      <p:sp>
        <p:nvSpPr>
          <p:cNvPr id="6" name="Freeform 6"/>
          <p:cNvSpPr/>
          <p:nvPr/>
        </p:nvSpPr>
        <p:spPr>
          <a:xfrm>
            <a:off x="591049" y="2791226"/>
            <a:ext cx="12999228" cy="7312065"/>
          </a:xfrm>
          <a:custGeom>
            <a:avLst/>
            <a:gdLst/>
            <a:ahLst/>
            <a:cxnLst/>
            <a:rect l="l" t="t" r="r" b="b"/>
            <a:pathLst>
              <a:path w="12999228" h="7312065">
                <a:moveTo>
                  <a:pt x="0" y="0"/>
                </a:moveTo>
                <a:lnTo>
                  <a:pt x="12999228" y="0"/>
                </a:lnTo>
                <a:lnTo>
                  <a:pt x="12999228" y="7312066"/>
                </a:lnTo>
                <a:lnTo>
                  <a:pt x="0" y="7312066"/>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4329765"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9.Data Analysis by Power bi</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20814" y="4854885"/>
            <a:ext cx="3101674" cy="3311268"/>
            <a:chOff x="0" y="0"/>
            <a:chExt cx="761352" cy="812800"/>
          </a:xfrm>
        </p:grpSpPr>
        <p:sp>
          <p:nvSpPr>
            <p:cNvPr id="5" name="Freeform 5"/>
            <p:cNvSpPr/>
            <p:nvPr/>
          </p:nvSpPr>
          <p:spPr>
            <a:xfrm>
              <a:off x="0" y="0"/>
              <a:ext cx="761352" cy="812800"/>
            </a:xfrm>
            <a:custGeom>
              <a:avLst/>
              <a:gdLst/>
              <a:ahLst/>
              <a:cxnLst/>
              <a:rect l="l" t="t" r="r" b="b"/>
              <a:pathLst>
                <a:path w="761352" h="812800">
                  <a:moveTo>
                    <a:pt x="380676" y="0"/>
                  </a:moveTo>
                  <a:cubicBezTo>
                    <a:pt x="170434" y="0"/>
                    <a:pt x="0" y="181951"/>
                    <a:pt x="0" y="406400"/>
                  </a:cubicBezTo>
                  <a:cubicBezTo>
                    <a:pt x="0" y="630849"/>
                    <a:pt x="170434" y="812800"/>
                    <a:pt x="380676" y="812800"/>
                  </a:cubicBezTo>
                  <a:cubicBezTo>
                    <a:pt x="590918" y="812800"/>
                    <a:pt x="761352" y="630849"/>
                    <a:pt x="761352" y="406400"/>
                  </a:cubicBezTo>
                  <a:cubicBezTo>
                    <a:pt x="761352" y="181951"/>
                    <a:pt x="590918" y="0"/>
                    <a:pt x="380676" y="0"/>
                  </a:cubicBezTo>
                  <a:close/>
                </a:path>
              </a:pathLst>
            </a:custGeom>
            <a:blipFill>
              <a:blip r:embed="rId4"/>
              <a:stretch>
                <a:fillRect l="-3378" r="-3378"/>
              </a:stretch>
            </a:blipFill>
          </p:spPr>
          <p:txBody>
            <a:bodyPr/>
            <a:lstStyle/>
            <a:p>
              <a:endParaRPr lang="en-US"/>
            </a:p>
          </p:txBody>
        </p:sp>
      </p:grpSp>
      <p:sp>
        <p:nvSpPr>
          <p:cNvPr id="6" name="Freeform 6"/>
          <p:cNvSpPr/>
          <p:nvPr/>
        </p:nvSpPr>
        <p:spPr>
          <a:xfrm>
            <a:off x="301955" y="2525988"/>
            <a:ext cx="12633216" cy="7153558"/>
          </a:xfrm>
          <a:custGeom>
            <a:avLst/>
            <a:gdLst/>
            <a:ahLst/>
            <a:cxnLst/>
            <a:rect l="l" t="t" r="r" b="b"/>
            <a:pathLst>
              <a:path w="12633216" h="7153558">
                <a:moveTo>
                  <a:pt x="0" y="0"/>
                </a:moveTo>
                <a:lnTo>
                  <a:pt x="12633216" y="0"/>
                </a:lnTo>
                <a:lnTo>
                  <a:pt x="12633216" y="7153558"/>
                </a:lnTo>
                <a:lnTo>
                  <a:pt x="0" y="7153558"/>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4329765"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9.Data Analysis by Power bi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AutoShape 2"/>
          <p:cNvSpPr/>
          <p:nvPr/>
        </p:nvSpPr>
        <p:spPr>
          <a:xfrm>
            <a:off x="-2051253" y="2328384"/>
            <a:ext cx="7903686" cy="9525"/>
          </a:xfrm>
          <a:prstGeom prst="line">
            <a:avLst/>
          </a:prstGeom>
          <a:ln w="19050" cap="flat">
            <a:solidFill>
              <a:srgbClr val="000000"/>
            </a:solidFill>
            <a:prstDash val="solid"/>
            <a:headEnd type="none" w="sm" len="sm"/>
            <a:tailEnd type="none" w="sm" len="sm"/>
          </a:ln>
        </p:spPr>
        <p:txBody>
          <a:bodyPr/>
          <a:lstStyle/>
          <a:p>
            <a:endParaRPr lang="en-US"/>
          </a:p>
        </p:txBody>
      </p:sp>
      <p:sp>
        <p:nvSpPr>
          <p:cNvPr id="3" name="Freeform 3"/>
          <p:cNvSpPr/>
          <p:nvPr/>
        </p:nvSpPr>
        <p:spPr>
          <a:xfrm>
            <a:off x="13590277" y="-888899"/>
            <a:ext cx="7360251" cy="7360251"/>
          </a:xfrm>
          <a:custGeom>
            <a:avLst/>
            <a:gdLst/>
            <a:ahLst/>
            <a:cxnLst/>
            <a:rect l="l" t="t" r="r" b="b"/>
            <a:pathLst>
              <a:path w="7360251" h="7360251">
                <a:moveTo>
                  <a:pt x="0" y="0"/>
                </a:moveTo>
                <a:lnTo>
                  <a:pt x="7360251" y="0"/>
                </a:lnTo>
                <a:lnTo>
                  <a:pt x="7360251" y="7360251"/>
                </a:lnTo>
                <a:lnTo>
                  <a:pt x="0" y="73602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 name="Group 4"/>
          <p:cNvGrpSpPr/>
          <p:nvPr/>
        </p:nvGrpSpPr>
        <p:grpSpPr>
          <a:xfrm>
            <a:off x="14920814" y="4854885"/>
            <a:ext cx="3101674" cy="3311268"/>
            <a:chOff x="0" y="0"/>
            <a:chExt cx="761352" cy="812800"/>
          </a:xfrm>
        </p:grpSpPr>
        <p:sp>
          <p:nvSpPr>
            <p:cNvPr id="5" name="Freeform 5"/>
            <p:cNvSpPr/>
            <p:nvPr/>
          </p:nvSpPr>
          <p:spPr>
            <a:xfrm>
              <a:off x="0" y="0"/>
              <a:ext cx="761352" cy="812800"/>
            </a:xfrm>
            <a:custGeom>
              <a:avLst/>
              <a:gdLst/>
              <a:ahLst/>
              <a:cxnLst/>
              <a:rect l="l" t="t" r="r" b="b"/>
              <a:pathLst>
                <a:path w="761352" h="812800">
                  <a:moveTo>
                    <a:pt x="380676" y="0"/>
                  </a:moveTo>
                  <a:cubicBezTo>
                    <a:pt x="170434" y="0"/>
                    <a:pt x="0" y="181951"/>
                    <a:pt x="0" y="406400"/>
                  </a:cubicBezTo>
                  <a:cubicBezTo>
                    <a:pt x="0" y="630849"/>
                    <a:pt x="170434" y="812800"/>
                    <a:pt x="380676" y="812800"/>
                  </a:cubicBezTo>
                  <a:cubicBezTo>
                    <a:pt x="590918" y="812800"/>
                    <a:pt x="761352" y="630849"/>
                    <a:pt x="761352" y="406400"/>
                  </a:cubicBezTo>
                  <a:cubicBezTo>
                    <a:pt x="761352" y="181951"/>
                    <a:pt x="590918" y="0"/>
                    <a:pt x="380676" y="0"/>
                  </a:cubicBezTo>
                  <a:close/>
                </a:path>
              </a:pathLst>
            </a:custGeom>
            <a:blipFill>
              <a:blip r:embed="rId4"/>
              <a:stretch>
                <a:fillRect l="-3378" r="-3378"/>
              </a:stretch>
            </a:blipFill>
          </p:spPr>
          <p:txBody>
            <a:bodyPr/>
            <a:lstStyle/>
            <a:p>
              <a:endParaRPr lang="en-US"/>
            </a:p>
          </p:txBody>
        </p:sp>
      </p:grpSp>
      <p:sp>
        <p:nvSpPr>
          <p:cNvPr id="6" name="Freeform 6"/>
          <p:cNvSpPr/>
          <p:nvPr/>
        </p:nvSpPr>
        <p:spPr>
          <a:xfrm>
            <a:off x="383108" y="2337909"/>
            <a:ext cx="13459925" cy="7402959"/>
          </a:xfrm>
          <a:custGeom>
            <a:avLst/>
            <a:gdLst/>
            <a:ahLst/>
            <a:cxnLst/>
            <a:rect l="l" t="t" r="r" b="b"/>
            <a:pathLst>
              <a:path w="13459925" h="7402959">
                <a:moveTo>
                  <a:pt x="0" y="0"/>
                </a:moveTo>
                <a:lnTo>
                  <a:pt x="13459925" y="0"/>
                </a:lnTo>
                <a:lnTo>
                  <a:pt x="13459925" y="7402959"/>
                </a:lnTo>
                <a:lnTo>
                  <a:pt x="0" y="7402959"/>
                </a:lnTo>
                <a:lnTo>
                  <a:pt x="0" y="0"/>
                </a:lnTo>
                <a:close/>
              </a:path>
            </a:pathLst>
          </a:custGeom>
          <a:blipFill>
            <a:blip r:embed="rId5"/>
            <a:stretch>
              <a:fillRect/>
            </a:stretch>
          </a:blipFill>
        </p:spPr>
        <p:txBody>
          <a:bodyPr/>
          <a:lstStyle/>
          <a:p>
            <a:endParaRPr lang="en-US"/>
          </a:p>
        </p:txBody>
      </p:sp>
      <p:sp>
        <p:nvSpPr>
          <p:cNvPr id="7" name="TextBox 7"/>
          <p:cNvSpPr txBox="1"/>
          <p:nvPr/>
        </p:nvSpPr>
        <p:spPr>
          <a:xfrm>
            <a:off x="591049" y="564833"/>
            <a:ext cx="14329765" cy="1306352"/>
          </a:xfrm>
          <a:prstGeom prst="rect">
            <a:avLst/>
          </a:prstGeom>
        </p:spPr>
        <p:txBody>
          <a:bodyPr lIns="0" tIns="0" rIns="0" bIns="0" rtlCol="0" anchor="t">
            <a:spAutoFit/>
          </a:bodyPr>
          <a:lstStyle/>
          <a:p>
            <a:pPr algn="ctr">
              <a:lnSpc>
                <a:spcPts val="10023"/>
              </a:lnSpc>
            </a:pPr>
            <a:r>
              <a:rPr lang="en-US" sz="9112">
                <a:solidFill>
                  <a:srgbClr val="000000"/>
                </a:solidFill>
                <a:latin typeface="Playfair Display"/>
                <a:ea typeface="Playfair Display"/>
                <a:cs typeface="Playfair Display"/>
                <a:sym typeface="Playfair Display"/>
              </a:rPr>
              <a:t>9.Data Analysis by Power bi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13000118" y="1262948"/>
            <a:ext cx="3685400" cy="368540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r="-25046"/>
              </a:stretch>
            </a:blipFill>
          </p:spPr>
          <p:txBody>
            <a:bodyPr/>
            <a:lstStyle/>
            <a:p>
              <a:endParaRPr lang="en-US"/>
            </a:p>
          </p:txBody>
        </p:sp>
      </p:grpSp>
      <p:sp>
        <p:nvSpPr>
          <p:cNvPr id="4" name="AutoShape 4"/>
          <p:cNvSpPr/>
          <p:nvPr/>
        </p:nvSpPr>
        <p:spPr>
          <a:xfrm>
            <a:off x="533400" y="3238500"/>
            <a:ext cx="4754484" cy="0"/>
          </a:xfrm>
          <a:prstGeom prst="line">
            <a:avLst/>
          </a:prstGeom>
          <a:ln w="19050" cap="flat">
            <a:solidFill>
              <a:srgbClr val="000000"/>
            </a:solidFill>
            <a:prstDash val="solid"/>
            <a:headEnd type="none" w="sm" len="sm"/>
            <a:tailEnd type="none" w="sm" len="sm"/>
          </a:ln>
        </p:spPr>
        <p:txBody>
          <a:bodyPr/>
          <a:lstStyle/>
          <a:p>
            <a:endParaRPr lang="en-US"/>
          </a:p>
        </p:txBody>
      </p:sp>
      <p:sp>
        <p:nvSpPr>
          <p:cNvPr id="5" name="Freeform 5"/>
          <p:cNvSpPr/>
          <p:nvPr/>
        </p:nvSpPr>
        <p:spPr>
          <a:xfrm>
            <a:off x="14380946" y="6515100"/>
            <a:ext cx="5606101" cy="5606101"/>
          </a:xfrm>
          <a:custGeom>
            <a:avLst/>
            <a:gdLst/>
            <a:ahLst/>
            <a:cxnLst/>
            <a:rect l="l" t="t" r="r" b="b"/>
            <a:pathLst>
              <a:path w="5606101" h="5606101">
                <a:moveTo>
                  <a:pt x="0" y="0"/>
                </a:moveTo>
                <a:lnTo>
                  <a:pt x="5606100" y="0"/>
                </a:lnTo>
                <a:lnTo>
                  <a:pt x="5606100" y="5606100"/>
                </a:lnTo>
                <a:lnTo>
                  <a:pt x="0" y="56061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533400" y="1228477"/>
            <a:ext cx="8058295" cy="1667123"/>
          </a:xfrm>
          <a:prstGeom prst="rect">
            <a:avLst/>
          </a:prstGeom>
        </p:spPr>
        <p:txBody>
          <a:bodyPr wrap="square" lIns="0" tIns="0" rIns="0" bIns="0" rtlCol="0" anchor="t">
            <a:spAutoFit/>
          </a:bodyPr>
          <a:lstStyle/>
          <a:p>
            <a:pPr>
              <a:lnSpc>
                <a:spcPts val="6468"/>
              </a:lnSpc>
            </a:pPr>
            <a:r>
              <a:rPr lang="en-US" sz="5880" b="1" i="1" dirty="0">
                <a:solidFill>
                  <a:srgbClr val="000000"/>
                </a:solidFill>
                <a:latin typeface="Playfair Display Bold Italics"/>
                <a:ea typeface="Playfair Display Bold Italics"/>
                <a:cs typeface="Playfair Display Bold Italics"/>
                <a:sym typeface="Playfair Display Bold Italics"/>
              </a:rPr>
              <a:t>Recommendations and Further Analysis </a:t>
            </a:r>
          </a:p>
        </p:txBody>
      </p:sp>
      <p:grpSp>
        <p:nvGrpSpPr>
          <p:cNvPr id="12" name="Group 12"/>
          <p:cNvGrpSpPr/>
          <p:nvPr/>
        </p:nvGrpSpPr>
        <p:grpSpPr>
          <a:xfrm>
            <a:off x="10896600" y="5753100"/>
            <a:ext cx="3685400" cy="368540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5046" r="-25046"/>
              </a:stretch>
            </a:blipFill>
          </p:spPr>
          <p:txBody>
            <a:bodyPr/>
            <a:lstStyle/>
            <a:p>
              <a:endParaRPr lang="en-US"/>
            </a:p>
          </p:txBody>
        </p:sp>
      </p:grpSp>
      <p:sp>
        <p:nvSpPr>
          <p:cNvPr id="19" name="TextBox 19"/>
          <p:cNvSpPr txBox="1"/>
          <p:nvPr/>
        </p:nvSpPr>
        <p:spPr>
          <a:xfrm>
            <a:off x="1104003" y="3924300"/>
            <a:ext cx="8367762" cy="6578724"/>
          </a:xfrm>
          <a:prstGeom prst="rect">
            <a:avLst/>
          </a:prstGeom>
        </p:spPr>
        <p:txBody>
          <a:bodyPr wrap="square" lIns="0" tIns="0" rIns="0" bIns="0" rtlCol="0" anchor="t">
            <a:spAutoFit/>
          </a:bodyPr>
          <a:lstStyle/>
          <a:p>
            <a:pPr algn="l">
              <a:lnSpc>
                <a:spcPct val="150000"/>
              </a:lnSpc>
            </a:pPr>
            <a:r>
              <a:rPr lang="en-US" sz="3600" b="1" dirty="0">
                <a:solidFill>
                  <a:srgbClr val="000000"/>
                </a:solidFill>
                <a:latin typeface="Garet Bold"/>
                <a:ea typeface="Garet Bold"/>
                <a:cs typeface="Garet Bold"/>
                <a:sym typeface="Garet Bold"/>
              </a:rPr>
              <a:t>1-Seasonal Preparedness</a:t>
            </a:r>
          </a:p>
          <a:p>
            <a:pPr algn="l">
              <a:lnSpc>
                <a:spcPct val="150000"/>
              </a:lnSpc>
            </a:pPr>
            <a:r>
              <a:rPr lang="en-US" sz="3600" b="1" dirty="0">
                <a:solidFill>
                  <a:srgbClr val="000000"/>
                </a:solidFill>
                <a:latin typeface="Garet Bold"/>
                <a:ea typeface="Garet Bold"/>
                <a:cs typeface="Garet Bold"/>
                <a:sym typeface="Garet Bold"/>
              </a:rPr>
              <a:t>2-Operator-Focused Measures</a:t>
            </a:r>
          </a:p>
          <a:p>
            <a:pPr algn="l">
              <a:lnSpc>
                <a:spcPct val="150000"/>
              </a:lnSpc>
            </a:pPr>
            <a:r>
              <a:rPr lang="en-US" sz="3600" b="1" dirty="0">
                <a:solidFill>
                  <a:srgbClr val="000000"/>
                </a:solidFill>
                <a:latin typeface="Garet Bold"/>
                <a:ea typeface="Garet Bold"/>
                <a:cs typeface="Garet Bold"/>
                <a:sym typeface="Garet Bold"/>
              </a:rPr>
              <a:t>3-Aircraft Model Monitoring </a:t>
            </a:r>
          </a:p>
          <a:p>
            <a:pPr algn="l">
              <a:lnSpc>
                <a:spcPct val="150000"/>
              </a:lnSpc>
              <a:spcBef>
                <a:spcPct val="0"/>
              </a:spcBef>
            </a:pPr>
            <a:r>
              <a:rPr lang="en-US" sz="3600" b="1" dirty="0">
                <a:solidFill>
                  <a:srgbClr val="000000"/>
                </a:solidFill>
                <a:latin typeface="Garet Bold"/>
                <a:sym typeface="Garet"/>
              </a:rPr>
              <a:t>4</a:t>
            </a:r>
            <a:r>
              <a:rPr lang="en-US" sz="3600" b="1" dirty="0">
                <a:solidFill>
                  <a:srgbClr val="000000"/>
                </a:solidFill>
                <a:latin typeface="Garet Bold"/>
                <a:sym typeface="Garet Bold"/>
              </a:rPr>
              <a:t>-Airport Risk Mitigation</a:t>
            </a:r>
          </a:p>
          <a:p>
            <a:pPr algn="l">
              <a:lnSpc>
                <a:spcPct val="150000"/>
              </a:lnSpc>
              <a:spcBef>
                <a:spcPct val="0"/>
              </a:spcBef>
            </a:pPr>
            <a:r>
              <a:rPr lang="en-US" sz="3600" b="1" dirty="0">
                <a:solidFill>
                  <a:srgbClr val="000000"/>
                </a:solidFill>
                <a:latin typeface="Garet Bold"/>
                <a:ea typeface="Garet Bold"/>
                <a:cs typeface="Garet Bold"/>
                <a:sym typeface="Garet Bold"/>
              </a:rPr>
              <a:t>5-Species Control</a:t>
            </a:r>
          </a:p>
          <a:p>
            <a:pPr>
              <a:lnSpc>
                <a:spcPct val="150000"/>
              </a:lnSpc>
              <a:spcBef>
                <a:spcPct val="0"/>
              </a:spcBef>
            </a:pPr>
            <a:r>
              <a:rPr lang="en-US" sz="3600" b="1" dirty="0">
                <a:solidFill>
                  <a:srgbClr val="000000"/>
                </a:solidFill>
                <a:latin typeface="Garet Bold"/>
                <a:ea typeface="Garet Bold"/>
                <a:cs typeface="Garet Bold"/>
                <a:sym typeface="Garet Bold"/>
              </a:rPr>
              <a:t>6-Maintenance &amp; Resilience</a:t>
            </a:r>
          </a:p>
          <a:p>
            <a:pPr algn="l">
              <a:lnSpc>
                <a:spcPct val="150000"/>
              </a:lnSpc>
              <a:spcBef>
                <a:spcPct val="0"/>
              </a:spcBef>
            </a:pPr>
            <a:endParaRPr lang="en-US" sz="3600" b="1" dirty="0">
              <a:solidFill>
                <a:srgbClr val="000000"/>
              </a:solidFill>
              <a:latin typeface="Garet Bold"/>
              <a:ea typeface="Garet Bold"/>
              <a:cs typeface="Garet Bold"/>
              <a:sym typeface="Garet Bold"/>
            </a:endParaRPr>
          </a:p>
          <a:p>
            <a:pPr algn="l">
              <a:lnSpc>
                <a:spcPct val="150000"/>
              </a:lnSpc>
              <a:spcBef>
                <a:spcPct val="0"/>
              </a:spcBef>
            </a:pPr>
            <a:endParaRPr lang="en-US" sz="3600" b="1" dirty="0">
              <a:solidFill>
                <a:srgbClr val="000000"/>
              </a:solidFill>
              <a:latin typeface="Garet Bold"/>
              <a:ea typeface="Garet Bold"/>
              <a:cs typeface="Garet Bold"/>
              <a:sym typeface="Garet 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13849896" y="766824"/>
            <a:ext cx="3685400" cy="368540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a:stretch>
            </a:blipFill>
          </p:spPr>
          <p:txBody>
            <a:bodyPr/>
            <a:lstStyle/>
            <a:p>
              <a:endParaRPr lang="en-US"/>
            </a:p>
          </p:txBody>
        </p:sp>
      </p:grpSp>
      <p:sp>
        <p:nvSpPr>
          <p:cNvPr id="4" name="AutoShape 4"/>
          <p:cNvSpPr/>
          <p:nvPr/>
        </p:nvSpPr>
        <p:spPr>
          <a:xfrm>
            <a:off x="0" y="2861875"/>
            <a:ext cx="4754484" cy="0"/>
          </a:xfrm>
          <a:prstGeom prst="line">
            <a:avLst/>
          </a:prstGeom>
          <a:ln w="19050" cap="flat">
            <a:solidFill>
              <a:srgbClr val="000000"/>
            </a:solidFill>
            <a:prstDash val="solid"/>
            <a:headEnd type="none" w="sm" len="sm"/>
            <a:tailEnd type="none" w="sm" len="sm"/>
          </a:ln>
        </p:spPr>
        <p:txBody>
          <a:bodyPr/>
          <a:lstStyle/>
          <a:p>
            <a:endParaRPr lang="en-US"/>
          </a:p>
        </p:txBody>
      </p:sp>
      <p:sp>
        <p:nvSpPr>
          <p:cNvPr id="5" name="Freeform 5"/>
          <p:cNvSpPr/>
          <p:nvPr/>
        </p:nvSpPr>
        <p:spPr>
          <a:xfrm>
            <a:off x="14456250" y="6455250"/>
            <a:ext cx="5606101" cy="5606101"/>
          </a:xfrm>
          <a:custGeom>
            <a:avLst/>
            <a:gdLst/>
            <a:ahLst/>
            <a:cxnLst/>
            <a:rect l="l" t="t" r="r" b="b"/>
            <a:pathLst>
              <a:path w="5606101" h="5606101">
                <a:moveTo>
                  <a:pt x="0" y="0"/>
                </a:moveTo>
                <a:lnTo>
                  <a:pt x="5606100" y="0"/>
                </a:lnTo>
                <a:lnTo>
                  <a:pt x="5606100" y="5606100"/>
                </a:lnTo>
                <a:lnTo>
                  <a:pt x="0" y="56061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710136" y="1362171"/>
            <a:ext cx="7940109" cy="1140849"/>
          </a:xfrm>
          <a:prstGeom prst="rect">
            <a:avLst/>
          </a:prstGeom>
        </p:spPr>
        <p:txBody>
          <a:bodyPr lIns="0" tIns="0" rIns="0" bIns="0" rtlCol="0" anchor="t">
            <a:spAutoFit/>
          </a:bodyPr>
          <a:lstStyle/>
          <a:p>
            <a:pPr algn="r">
              <a:lnSpc>
                <a:spcPts val="8888"/>
              </a:lnSpc>
            </a:pPr>
            <a:r>
              <a:rPr lang="en-US" sz="8080" i="1">
                <a:solidFill>
                  <a:srgbClr val="000000"/>
                </a:solidFill>
                <a:latin typeface="Playfair Display Italics"/>
                <a:ea typeface="Playfair Display Italics"/>
                <a:cs typeface="Playfair Display Italics"/>
                <a:sym typeface="Playfair Display Italics"/>
              </a:rPr>
              <a:t>Acknowledgement </a:t>
            </a:r>
          </a:p>
        </p:txBody>
      </p:sp>
      <p:sp>
        <p:nvSpPr>
          <p:cNvPr id="8" name="TextBox 8"/>
          <p:cNvSpPr txBox="1"/>
          <p:nvPr/>
        </p:nvSpPr>
        <p:spPr>
          <a:xfrm>
            <a:off x="499250" y="3182893"/>
            <a:ext cx="12627869" cy="7158273"/>
          </a:xfrm>
          <a:prstGeom prst="rect">
            <a:avLst/>
          </a:prstGeom>
        </p:spPr>
        <p:txBody>
          <a:bodyPr lIns="0" tIns="0" rIns="0" bIns="0" rtlCol="0" anchor="t">
            <a:spAutoFit/>
          </a:bodyPr>
          <a:lstStyle/>
          <a:p>
            <a:pPr marL="750665" lvl="1" indent="-375332" algn="l">
              <a:lnSpc>
                <a:spcPts val="5806"/>
              </a:lnSpc>
              <a:buFont typeface="Arial"/>
              <a:buChar char="•"/>
            </a:pPr>
            <a:r>
              <a:rPr lang="en-US" sz="3476">
                <a:solidFill>
                  <a:srgbClr val="000000"/>
                </a:solidFill>
                <a:latin typeface="Playfair Display"/>
                <a:ea typeface="Playfair Display"/>
                <a:cs typeface="Playfair Display"/>
                <a:sym typeface="Playfair Display"/>
              </a:rPr>
              <a:t>The team members would like to express their sincere gratitude to the Digital Egypt Pioneers Initiative </a:t>
            </a:r>
            <a:r>
              <a:rPr lang="en-US" sz="3476" b="1">
                <a:solidFill>
                  <a:srgbClr val="000000"/>
                </a:solidFill>
                <a:latin typeface="Playfair Display Bold"/>
                <a:ea typeface="Playfair Display Bold"/>
                <a:cs typeface="Playfair Display Bold"/>
                <a:sym typeface="Playfair Display Bold"/>
              </a:rPr>
              <a:t>(DEPI)</a:t>
            </a:r>
            <a:r>
              <a:rPr lang="en-US" sz="3476">
                <a:solidFill>
                  <a:srgbClr val="000000"/>
                </a:solidFill>
                <a:latin typeface="Playfair Display"/>
                <a:ea typeface="Playfair Display"/>
                <a:cs typeface="Playfair Display"/>
                <a:sym typeface="Playfair Display"/>
              </a:rPr>
              <a:t> for their valuable support throughout this work.</a:t>
            </a:r>
          </a:p>
          <a:p>
            <a:pPr marL="729075" lvl="1" indent="-364538" algn="l">
              <a:lnSpc>
                <a:spcPts val="5639"/>
              </a:lnSpc>
              <a:buFont typeface="Arial"/>
              <a:buChar char="•"/>
            </a:pPr>
            <a:r>
              <a:rPr lang="en-US" sz="3376">
                <a:solidFill>
                  <a:srgbClr val="000000"/>
                </a:solidFill>
                <a:latin typeface="Playfair Display"/>
                <a:ea typeface="Playfair Display"/>
                <a:cs typeface="Playfair Display"/>
                <a:sym typeface="Playfair Display"/>
              </a:rPr>
              <a:t>The team also extends its heartfelt appreciation to </a:t>
            </a:r>
            <a:r>
              <a:rPr lang="en-US" sz="3376" b="1">
                <a:solidFill>
                  <a:srgbClr val="000000"/>
                </a:solidFill>
                <a:latin typeface="Playfair Display Bold"/>
                <a:ea typeface="Playfair Display Bold"/>
                <a:cs typeface="Playfair Display Bold"/>
                <a:sym typeface="Playfair Display Bold"/>
              </a:rPr>
              <a:t>Dr. Amal Mahmoud</a:t>
            </a:r>
            <a:r>
              <a:rPr lang="en-US" sz="3376">
                <a:solidFill>
                  <a:srgbClr val="000000"/>
                </a:solidFill>
                <a:latin typeface="Playfair Display"/>
                <a:ea typeface="Playfair Display"/>
                <a:cs typeface="Playfair Display"/>
                <a:sym typeface="Playfair Display"/>
              </a:rPr>
              <a:t>, our technical instructor, for her guidance, expertise, and continuous support.</a:t>
            </a:r>
          </a:p>
          <a:p>
            <a:pPr marL="729075" lvl="1" indent="-364538" algn="l">
              <a:lnSpc>
                <a:spcPts val="5639"/>
              </a:lnSpc>
              <a:buFont typeface="Arial"/>
              <a:buChar char="•"/>
            </a:pPr>
            <a:r>
              <a:rPr lang="en-US" sz="3376">
                <a:solidFill>
                  <a:srgbClr val="000000"/>
                </a:solidFill>
                <a:latin typeface="Playfair Display"/>
                <a:ea typeface="Playfair Display"/>
                <a:cs typeface="Playfair Display"/>
                <a:sym typeface="Playfair Display"/>
              </a:rPr>
              <a:t>The team would also like to acknowledge </a:t>
            </a:r>
            <a:r>
              <a:rPr lang="en-US" sz="3376" b="1">
                <a:solidFill>
                  <a:srgbClr val="000000"/>
                </a:solidFill>
                <a:latin typeface="Playfair Display Bold"/>
                <a:ea typeface="Playfair Display Bold"/>
                <a:cs typeface="Playfair Display Bold"/>
                <a:sym typeface="Playfair Display Bold"/>
              </a:rPr>
              <a:t>YAT</a:t>
            </a:r>
            <a:r>
              <a:rPr lang="en-US" sz="3376">
                <a:solidFill>
                  <a:srgbClr val="000000"/>
                </a:solidFill>
                <a:latin typeface="Playfair Display"/>
                <a:ea typeface="Playfair Display"/>
                <a:cs typeface="Playfair Display"/>
                <a:sym typeface="Playfair Display"/>
              </a:rPr>
              <a:t> for providing a supportive training environment that contributed to the success of this project.</a:t>
            </a:r>
          </a:p>
          <a:p>
            <a:pPr algn="l">
              <a:lnSpc>
                <a:spcPts val="5639"/>
              </a:lnSpc>
            </a:pPr>
            <a:endParaRPr lang="en-US" sz="3376">
              <a:solidFill>
                <a:srgbClr val="000000"/>
              </a:solidFill>
              <a:latin typeface="Playfair Display"/>
              <a:ea typeface="Playfair Display"/>
              <a:cs typeface="Playfair Display"/>
              <a:sym typeface="Playfair Display"/>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Freeform 2"/>
          <p:cNvSpPr/>
          <p:nvPr/>
        </p:nvSpPr>
        <p:spPr>
          <a:xfrm>
            <a:off x="228600" y="7147595"/>
            <a:ext cx="3139405" cy="3139405"/>
          </a:xfrm>
          <a:custGeom>
            <a:avLst/>
            <a:gdLst/>
            <a:ahLst/>
            <a:cxnLst/>
            <a:rect l="l" t="t" r="r" b="b"/>
            <a:pathLst>
              <a:path w="4663405" h="4663405">
                <a:moveTo>
                  <a:pt x="0" y="0"/>
                </a:moveTo>
                <a:lnTo>
                  <a:pt x="4663405" y="0"/>
                </a:lnTo>
                <a:lnTo>
                  <a:pt x="4663405" y="4663405"/>
                </a:lnTo>
                <a:lnTo>
                  <a:pt x="0" y="46634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AutoShape 3"/>
          <p:cNvSpPr/>
          <p:nvPr/>
        </p:nvSpPr>
        <p:spPr>
          <a:xfrm flipV="1">
            <a:off x="6639908" y="1569414"/>
            <a:ext cx="12174757" cy="0"/>
          </a:xfrm>
          <a:prstGeom prst="line">
            <a:avLst/>
          </a:prstGeom>
          <a:ln w="19050" cap="flat">
            <a:solidFill>
              <a:srgbClr val="000000"/>
            </a:solidFill>
            <a:prstDash val="solid"/>
            <a:headEnd type="none" w="sm" len="sm"/>
            <a:tailEnd type="none" w="sm" len="sm"/>
          </a:ln>
        </p:spPr>
        <p:txBody>
          <a:bodyPr/>
          <a:lstStyle/>
          <a:p>
            <a:endParaRPr lang="en-US"/>
          </a:p>
        </p:txBody>
      </p:sp>
      <p:sp>
        <p:nvSpPr>
          <p:cNvPr id="4" name="Freeform 4"/>
          <p:cNvSpPr/>
          <p:nvPr/>
        </p:nvSpPr>
        <p:spPr>
          <a:xfrm>
            <a:off x="5715000" y="3848100"/>
            <a:ext cx="6582446" cy="5059025"/>
          </a:xfrm>
          <a:custGeom>
            <a:avLst/>
            <a:gdLst/>
            <a:ahLst/>
            <a:cxnLst/>
            <a:rect l="l" t="t" r="r" b="b"/>
            <a:pathLst>
              <a:path w="6582446" h="5059025">
                <a:moveTo>
                  <a:pt x="0" y="0"/>
                </a:moveTo>
                <a:lnTo>
                  <a:pt x="6582446" y="0"/>
                </a:lnTo>
                <a:lnTo>
                  <a:pt x="6582446" y="5059026"/>
                </a:lnTo>
                <a:lnTo>
                  <a:pt x="0" y="5059026"/>
                </a:lnTo>
                <a:lnTo>
                  <a:pt x="0" y="0"/>
                </a:lnTo>
                <a:close/>
              </a:path>
            </a:pathLst>
          </a:custGeom>
          <a:blipFill>
            <a:blip r:embed="rId4"/>
            <a:stretch>
              <a:fillRect l="-2475"/>
            </a:stretch>
          </a:blipFill>
        </p:spPr>
        <p:txBody>
          <a:bodyPr/>
          <a:lstStyle/>
          <a:p>
            <a:endParaRPr lang="en-US"/>
          </a:p>
        </p:txBody>
      </p:sp>
      <p:sp>
        <p:nvSpPr>
          <p:cNvPr id="5" name="TextBox 5"/>
          <p:cNvSpPr txBox="1"/>
          <p:nvPr/>
        </p:nvSpPr>
        <p:spPr>
          <a:xfrm>
            <a:off x="3848100" y="1790700"/>
            <a:ext cx="10591800" cy="1666162"/>
          </a:xfrm>
          <a:prstGeom prst="rect">
            <a:avLst/>
          </a:prstGeom>
        </p:spPr>
        <p:txBody>
          <a:bodyPr wrap="square" lIns="0" tIns="0" rIns="0" bIns="0" rtlCol="0" anchor="t">
            <a:spAutoFit/>
          </a:bodyPr>
          <a:lstStyle/>
          <a:p>
            <a:pPr algn="l">
              <a:lnSpc>
                <a:spcPts val="14075"/>
              </a:lnSpc>
            </a:pPr>
            <a:r>
              <a:rPr lang="en-US" sz="8800" i="1" dirty="0">
                <a:solidFill>
                  <a:srgbClr val="000000"/>
                </a:solidFill>
                <a:latin typeface="Playfair Display Italics"/>
                <a:ea typeface="Playfair Display Italics"/>
                <a:cs typeface="Playfair Display Italics"/>
                <a:sym typeface="Playfair Display Italics"/>
              </a:rPr>
              <a:t>Thanks for attention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TotalTime>
  <Words>631</Words>
  <Application>Microsoft Office PowerPoint</Application>
  <PresentationFormat>Custom</PresentationFormat>
  <Paragraphs>71</Paragraphs>
  <Slides>31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Canva Sans Italics</vt:lpstr>
      <vt:lpstr>Calibri</vt:lpstr>
      <vt:lpstr>Playfair Display</vt:lpstr>
      <vt:lpstr>Arial</vt:lpstr>
      <vt:lpstr>Garet Bold</vt:lpstr>
      <vt:lpstr>Playfair Display Bold</vt:lpstr>
      <vt:lpstr>Playfair Display Italics</vt:lpstr>
      <vt:lpstr>Canva Sans Bold</vt:lpstr>
      <vt:lpstr>Playfair Display Bold Italics</vt:lpstr>
      <vt:lpstr>Garet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Minimalist Gradient Creative Portfolio Presentation</dc:title>
  <cp:lastModifiedBy>mahmoud adel</cp:lastModifiedBy>
  <cp:revision>7</cp:revision>
  <dcterms:created xsi:type="dcterms:W3CDTF">2006-08-16T00:00:00Z</dcterms:created>
  <dcterms:modified xsi:type="dcterms:W3CDTF">2025-12-05T19:58:55Z</dcterms:modified>
  <dc:identifier>DAG43Eo4_DE</dc:identifier>
</cp:coreProperties>
</file>